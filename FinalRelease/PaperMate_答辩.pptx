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700"/>
  </p:normalViewPr>
  <p:slideViewPr>
    <p:cSldViewPr snapToGrid="0">
      <p:cViewPr varScale="1">
        <p:scale>
          <a:sx n="122" d="100"/>
          <a:sy n="122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开场先定义产品：PaperMate 不是单点摘要工具，而是一条完整的科研知识工作流。</a:t>
            </a:r>
          </a:p>
          <a:p>
            <a:r>
              <a:t>强调三个关键词：可追溯、可扩展、可恢复。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/Users/xlchen/SE26Project-05/README.md</a:t>
            </a:r>
          </a:p>
          <a:p>
            <a:r>
              <a:t>- /Users/xlchen/SE26Project-05/FinalRelease/vision.md</a:t>
            </a:r>
          </a:p>
          <a:p>
            <a:r>
              <a:t>- AI-generated cover visual: OpenAI image generation, 2026-07-30; prompt recorded in source-notes.txt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按用户旅程讲解五个阶段，不要逐条念功能。</a:t>
            </a:r>
          </a:p>
          <a:p>
            <a:r>
              <a:t>第四阶段被高亮，因为证据绑定问答是把知识库变成可交互能力的关键。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/Users/xlchen/SE26Project-05/FinalRelease/项目总结报告.pdf</a:t>
            </a:r>
          </a:p>
          <a:p>
            <a:r>
              <a:t>- /Users/xlchen/SE26Project-05/FinalRelease/vision.md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讲解时先说听众能感受到的结果：换模型不重写、回答能核对、任务失败能恢复。</a:t>
            </a:r>
          </a:p>
          <a:p>
            <a:r>
              <a:t>技术细节可在追问时补充，不在页面上堆术语。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/Users/xlchen/SE26Project-05/backend/app/core/llm_gateway.py</a:t>
            </a:r>
          </a:p>
          <a:p>
            <a:r>
              <a:t>- /Users/xlchen/SE26Project-05/backend/app/core/embedding.py</a:t>
            </a:r>
          </a:p>
          <a:p>
            <a:r>
              <a:t>- /Users/xlchen/SE26Project-05/backend/app/core/search.py</a:t>
            </a:r>
          </a:p>
          <a:p>
            <a:r>
              <a:t>- /Users/xlchen/SE26Project-05/backend/app/services/rag.py</a:t>
            </a:r>
          </a:p>
          <a:p>
            <a:r>
              <a:t>- /Users/xlchen/SE26Project-05/backend/app/models/paper.py</a:t>
            </a:r>
          </a:p>
          <a:p>
            <a:r>
              <a:t>- /Users/xlchen/SE26Project-05/backend/app/services/analysis_runs.py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指出两个蓝色层：前端服务接口与后端基础设施接口，它们是隔离变化的关键。</a:t>
            </a:r>
          </a:p>
          <a:p>
            <a:r>
              <a:t>模块化单体是有意识的架构选择，而非没有拆分能力。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/Users/xlchen/SE26Project-05/README.md</a:t>
            </a:r>
          </a:p>
          <a:p>
            <a:r>
              <a:t>- /Users/xlchen/SE26Project-05/FinalRelease/软件架构文档.pdf</a:t>
            </a:r>
          </a:p>
          <a:p>
            <a:r>
              <a:t>- /Users/xlchen/SE26Project-05/frontend/src/services/apiClient.js</a:t>
            </a:r>
          </a:p>
          <a:p>
            <a:r>
              <a:t>- /Users/xlchen/SE26Project-05/backend/app/core/llm_gateway.py</a:t>
            </a:r>
          </a:p>
          <a:p>
            <a:r>
              <a:t>- /Users/xlchen/SE26Project-05/backend/app/core/embedding.py</a:t>
            </a:r>
          </a:p>
          <a:p>
            <a:r>
              <a:t>- /Users/xlchen/SE26Project-05/backend/app/core/search.py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逐行解释“接口—实现—作用”，避免只报设计模式名称。</a:t>
            </a:r>
          </a:p>
          <a:p>
            <a:r>
              <a:t>apiClient 是统一传输入口；createEndpoint 在运行时选择 Mock 或 HTTP 策略。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/Users/xlchen/SE26Project-05/backend/app/core/llm_gateway.py</a:t>
            </a:r>
          </a:p>
          <a:p>
            <a:r>
              <a:t>- /Users/xlchen/SE26Project-05/backend/app/core/embedding.py</a:t>
            </a:r>
          </a:p>
          <a:p>
            <a:r>
              <a:t>- /Users/xlchen/SE26Project-05/backend/app/core/search.py</a:t>
            </a:r>
          </a:p>
          <a:p>
            <a:r>
              <a:t>- /Users/xlchen/SE26Project-05/frontend/src/services/apiClient.js</a:t>
            </a:r>
          </a:p>
          <a:p>
            <a:r>
              <a:t>- /Users/xlchen/SE26Project-05/README.md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融合权重来自当前实现：有向量候选时，词法得分 0.65、向量得分 0.35。</a:t>
            </a:r>
          </a:p>
          <a:p>
            <a:r>
              <a:t>强调降级不是牺牲可信度：模型不可用时只展示检索片段，并明确证据边界。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/Users/xlchen/SE26Project-05/backend/app/services/rag.py</a:t>
            </a:r>
          </a:p>
          <a:p>
            <a:r>
              <a:t>- /Users/xlchen/SE26Project-05/backend/README.md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状态机把分析过程显式化：每个阶段可观测、可重试、可恢复。</a:t>
            </a:r>
          </a:p>
          <a:p>
            <a:r>
              <a:t>active_analysis_run_id 的原子切换避免用户看到半成品。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/Users/xlchen/SE26Project-05/backend/app/models/paper.py</a:t>
            </a:r>
          </a:p>
          <a:p>
            <a:r>
              <a:t>- /Users/xlchen/SE26Project-05/backend/app/services/analysis_runs.py</a:t>
            </a:r>
          </a:p>
          <a:p>
            <a:r>
              <a:t>- /Users/xlchen/SE26Project-05/backend/app/tasks/paper_tasks.py</a:t>
            </a:r>
          </a:p>
          <a:p>
            <a:r>
              <a:t>- /Users/xlchen/SE26Project-05/backend/README.md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测试数字来自当前工作区实测，不使用报告中的理想化百分比。</a:t>
            </a:r>
          </a:p>
          <a:p>
            <a:r>
              <a:t>性能要求明确标为验收门槛与现有脚本，因为本次没有启动数据库、Redis 与 100 用户环境复跑。</a:t>
            </a:r>
          </a:p>
          <a:p>
            <a:endParaRPr/>
          </a:p>
          <a:p>
            <a:r>
              <a:t>[Sources]</a:t>
            </a:r>
          </a:p>
          <a:p>
            <a:r>
              <a:t>- Local verification on 2026-07-30: `uv run pytest -q` -&gt; 185 passed, 1 skipped, 14 warnings</a:t>
            </a:r>
          </a:p>
          <a:p>
            <a:r>
              <a:t>- Local verification on 2026-07-30: `uv run ruff check .` -&gt; All checks passed</a:t>
            </a:r>
          </a:p>
          <a:p>
            <a:r>
              <a:t>- Local verification on 2026-07-30: `npm run build` -&gt; success, 4142 modules transformed</a:t>
            </a:r>
          </a:p>
          <a:p>
            <a:r>
              <a:t>- /Users/xlchen/SE26Project-05/.github/workflows/backend.yml</a:t>
            </a:r>
          </a:p>
          <a:p>
            <a:r>
              <a:t>- /Users/xlchen/SE26Project-05/backend/performance_test.py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时间线来自 Git 历史与交付文档，重点讲风险控制方式，不逐个列提交。</a:t>
            </a:r>
          </a:p>
          <a:p>
            <a:r>
              <a:t>83 是匹配“Merge pull request”的合并提交数量；209 是当前 HEAD 的提交总数。</a:t>
            </a:r>
          </a:p>
          <a:p>
            <a:endParaRPr/>
          </a:p>
          <a:p>
            <a:r>
              <a:t>[Sources]</a:t>
            </a:r>
          </a:p>
          <a:p>
            <a:r>
              <a:t>- Git history in /Users/xlchen/SE26Project-05, inspected 2026-07-30</a:t>
            </a:r>
          </a:p>
          <a:p>
            <a:r>
              <a:t>- /Users/xlchen/SE26Project-05/FinalRelease/项目总结报告.pdf</a:t>
            </a:r>
          </a:p>
          <a:p>
            <a:r>
              <a:t>- /Users/xlchen/SE26Project-05/.github/workflows/backend.yml</a:t>
            </a:r>
          </a:p>
          <a:p>
            <a:r>
              <a:t>- /Users/xlchen/SE26Project-05/README.md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先说明报告给出的总贡献均为 20%，再用角色描述呈现互补分工。</a:t>
            </a:r>
          </a:p>
          <a:p>
            <a:r>
              <a:t>角色描述依据项目总结与 Git 非合并提交主题，不以代码行数替代贡献评价。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/Users/xlchen/SE26Project-05/FinalRelease/项目总结报告.pdf</a:t>
            </a:r>
          </a:p>
          <a:p>
            <a:r>
              <a:t>- Non-merge Git commit subjects in /Users/xlchen/SE26Project-05, inspected 2026-07-30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每个问题都对应一条具体规则，重点说明团队以后如何避免重复踩坑。</a:t>
            </a:r>
          </a:p>
          <a:p>
            <a:r>
              <a:t>Repository 仍可作为后续优化方向，现场不必展开术语。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/Users/xlchen/SE26Project-05/FinalRelease/项目总结报告.pdf</a:t>
            </a:r>
          </a:p>
          <a:p>
            <a:r>
              <a:t>- /Users/xlchen/SE26Project-05/README.md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回扣开场的三个关键词：可追溯、可扩展、可恢复。</a:t>
            </a:r>
          </a:p>
          <a:p>
            <a:r>
              <a:t>最后用生产化、数据访问分层、概念归一化和可观测性作为后续方向。</a:t>
            </a:r>
          </a:p>
          <a:p>
            <a:endParaRPr/>
          </a:p>
          <a:p>
            <a:r>
              <a:t>[Sources]</a:t>
            </a:r>
          </a:p>
          <a:p>
            <a:r>
              <a:t>- /Users/xlchen/SE26Project-05/FinalRelease/项目总结报告.pdf</a:t>
            </a:r>
          </a:p>
          <a:p>
            <a:r>
              <a:t>- /Users/xlchen/SE26Project-05/FinalRelease/软件架构文档.pdf</a:t>
            </a:r>
          </a:p>
          <a:p>
            <a:r>
              <a:t>- /Users/xlchen/SE26Project-05/README.md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01">
            <a:extLst>
              <a:ext uri="{FF2B5EF4-FFF2-40B4-BE49-F238E27FC236}">
                <a16:creationId xmlns:a16="http://schemas.microsoft.com/office/drawing/2014/main" id="{347CA5D2-4034-4F8E-B676-C88A3FCACE33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软件工程课程项目 · 第五组</a:t>
            </a:r>
          </a:p>
        </p:txBody>
      </p:sp>
      <p:sp>
        <p:nvSpPr>
          <p:cNvPr id="2" name="text-002">
            <a:extLst>
              <a:ext uri="{FF2B5EF4-FFF2-40B4-BE49-F238E27FC236}">
                <a16:creationId xmlns:a16="http://schemas.microsoft.com/office/drawing/2014/main" id="{AA007DB2-B1D2-4198-8C08-1298F91C6130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5429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6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PaperMate</a:t>
            </a:r>
          </a:p>
        </p:txBody>
      </p:sp>
      <p:sp>
        <p:nvSpPr>
          <p:cNvPr id="3" name="text-003">
            <a:extLst>
              <a:ext uri="{FF2B5EF4-FFF2-40B4-BE49-F238E27FC236}">
                <a16:creationId xmlns:a16="http://schemas.microsoft.com/office/drawing/2014/main" id="{B12F7C89-F659-4F41-B45E-EF8E285BAC1C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5143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让科研阅读成为</a:t>
            </a:r>
          </a:p>
          <a:p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可追溯的知识工作流</a:t>
            </a:r>
          </a:p>
        </p:txBody>
      </p:sp>
      <p:sp>
        <p:nvSpPr>
          <p:cNvPr id="4" name="rule-004">
            <a:extLst>
              <a:ext uri="{FF2B5EF4-FFF2-40B4-BE49-F238E27FC236}">
                <a16:creationId xmlns:a16="http://schemas.microsoft.com/office/drawing/2014/main" id="{470DD65E-372B-45E2-8095-AB2CA8440C87}"/>
              </a:ext>
            </a:extLst>
          </p:cNvPr>
          <p:cNvSpPr>
            <a:spLocks noGrp="1"/>
          </p:cNvSpPr>
          <p:nvPr/>
        </p:nvSpPr>
        <p:spPr>
          <a:xfrm>
            <a:off x="400050" y="4514850"/>
            <a:ext cx="1028700" cy="0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</p:sp>
      <p:sp>
        <p:nvSpPr>
          <p:cNvPr id="6" name="text-006">
            <a:extLst>
              <a:ext uri="{FF2B5EF4-FFF2-40B4-BE49-F238E27FC236}">
                <a16:creationId xmlns:a16="http://schemas.microsoft.com/office/drawing/2014/main" id="{67386658-8424-49F7-ABE6-20BFC70B689F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React · FastAPI · PostgreSQL/pgvector · Redis/Celery</a:t>
            </a:r>
          </a:p>
        </p:txBody>
      </p:sp>
      <p:sp>
        <p:nvSpPr>
          <p:cNvPr id="7" name="text-007">
            <a:extLst>
              <a:ext uri="{FF2B5EF4-FFF2-40B4-BE49-F238E27FC236}">
                <a16:creationId xmlns:a16="http://schemas.microsoft.com/office/drawing/2014/main" id="{876743ED-2AD8-439E-B05D-1DCC85831060}"/>
              </a:ext>
            </a:extLst>
          </p:cNvPr>
          <p:cNvSpPr>
            <a:spLocks noGrp="1"/>
          </p:cNvSpPr>
          <p:nvPr/>
        </p:nvSpPr>
        <p:spPr>
          <a:xfrm>
            <a:off x="400050" y="6096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2026.07</a:t>
            </a:r>
          </a:p>
        </p:txBody>
      </p:sp>
      <p:sp>
        <p:nvSpPr>
          <p:cNvPr id="8" name="box-008">
            <a:extLst>
              <a:ext uri="{FF2B5EF4-FFF2-40B4-BE49-F238E27FC236}">
                <a16:creationId xmlns:a16="http://schemas.microsoft.com/office/drawing/2014/main" id="{F5659FDC-E583-41E2-9EEE-1135134B097D}"/>
              </a:ext>
            </a:extLst>
          </p:cNvPr>
          <p:cNvSpPr>
            <a:spLocks noGrp="1"/>
          </p:cNvSpPr>
          <p:nvPr/>
        </p:nvSpPr>
        <p:spPr>
          <a:xfrm>
            <a:off x="6238875" y="381000"/>
            <a:ext cx="5572125" cy="5619750"/>
          </a:xfrm>
          <a:prstGeom prst="roundRect">
            <a:avLst>
              <a:gd name="adj" fmla="val 3077"/>
            </a:avLst>
          </a:prstGeom>
          <a:solidFill>
            <a:srgbClr val="EAF5FB"/>
          </a:solidFill>
          <a:ln w="9525">
            <a:solidFill>
              <a:srgbClr val="E2E4E8"/>
            </a:solidFill>
            <a:prstDash val="solid"/>
          </a:ln>
        </p:spPr>
      </p:sp>
      <p:pic>
        <p:nvPicPr>
          <p:cNvPr id="21" name="Picture 18"/>
          <p:cNvPicPr>
            <a:picLocks noChangeAspect="1"/>
          </p:cNvPicPr>
          <p:nvPr/>
        </p:nvPicPr>
        <p:blipFill>
          <a:blip r:embed="rId3"/>
          <a:srcRect l="22099" r="22099"/>
          <a:stretch>
            <a:fillRect/>
          </a:stretch>
        </p:blipFill>
        <p:spPr>
          <a:xfrm>
            <a:off x="6238875" y="381000"/>
            <a:ext cx="5572125" cy="5619750"/>
          </a:xfrm>
          <a:prstGeom prst="roundRect">
            <a:avLst>
              <a:gd name="adj" fmla="val 3077"/>
            </a:avLst>
          </a:prstGeom>
        </p:spPr>
      </p:pic>
      <p:sp>
        <p:nvSpPr>
          <p:cNvPr id="10" name="text-009">
            <a:extLst>
              <a:ext uri="{FF2B5EF4-FFF2-40B4-BE49-F238E27FC236}">
                <a16:creationId xmlns:a16="http://schemas.microsoft.com/office/drawing/2014/main" id="{F4CE6053-C2C1-4690-A674-E2605CA5C916}"/>
              </a:ext>
            </a:extLst>
          </p:cNvPr>
          <p:cNvSpPr>
            <a:spLocks noGrp="1"/>
          </p:cNvSpPr>
          <p:nvPr/>
        </p:nvSpPr>
        <p:spPr>
          <a:xfrm>
            <a:off x="11106150" y="624840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5415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-010">
            <a:extLst>
              <a:ext uri="{FF2B5EF4-FFF2-40B4-BE49-F238E27FC236}">
                <a16:creationId xmlns:a16="http://schemas.microsoft.com/office/drawing/2014/main" id="{442DE00F-37F5-4D17-A04F-A0118D362DA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产品特色</a:t>
            </a:r>
          </a:p>
        </p:txBody>
      </p:sp>
      <p:sp>
        <p:nvSpPr>
          <p:cNvPr id="2" name="text-011">
            <a:extLst>
              <a:ext uri="{FF2B5EF4-FFF2-40B4-BE49-F238E27FC236}">
                <a16:creationId xmlns:a16="http://schemas.microsoft.com/office/drawing/2014/main" id="{BAD4BC46-0011-47F0-AA48-8F790A9434E7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价值不在单个 AI 功能，而在完整闭环</a:t>
            </a:r>
          </a:p>
        </p:txBody>
      </p:sp>
      <p:sp>
        <p:nvSpPr>
          <p:cNvPr id="3" name="text-012">
            <a:extLst>
              <a:ext uri="{FF2B5EF4-FFF2-40B4-BE49-F238E27FC236}">
                <a16:creationId xmlns:a16="http://schemas.microsoft.com/office/drawing/2014/main" id="{82A7C19C-F6A6-4AF4-B15A-283D4C02F91D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02 / 12</a:t>
            </a:r>
          </a:p>
        </p:txBody>
      </p:sp>
      <p:sp>
        <p:nvSpPr>
          <p:cNvPr id="4" name="text-013">
            <a:extLst>
              <a:ext uri="{FF2B5EF4-FFF2-40B4-BE49-F238E27FC236}">
                <a16:creationId xmlns:a16="http://schemas.microsoft.com/office/drawing/2014/main" id="{BCF6DEE1-26B6-4AA2-8DF4-B2A7107CB8AE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五个阶段共享同一份论文数据与用户上下文，形成持续积累的科研工作流。</a:t>
            </a:r>
          </a:p>
        </p:txBody>
      </p:sp>
      <p:sp>
        <p:nvSpPr>
          <p:cNvPr id="5" name="box-014">
            <a:extLst>
              <a:ext uri="{FF2B5EF4-FFF2-40B4-BE49-F238E27FC236}">
                <a16:creationId xmlns:a16="http://schemas.microsoft.com/office/drawing/2014/main" id="{4132C956-2D67-4F57-8A65-58F5C07F924B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1962150" cy="2266950"/>
          </a:xfrm>
          <a:prstGeom prst="roundRect">
            <a:avLst>
              <a:gd name="adj" fmla="val 3883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6" name="text-015">
            <a:extLst>
              <a:ext uri="{FF2B5EF4-FFF2-40B4-BE49-F238E27FC236}">
                <a16:creationId xmlns:a16="http://schemas.microsoft.com/office/drawing/2014/main" id="{571AD7CC-ABDC-4632-9BE3-E9DCB59140AA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ext-016">
            <a:extLst>
              <a:ext uri="{FF2B5EF4-FFF2-40B4-BE49-F238E27FC236}">
                <a16:creationId xmlns:a16="http://schemas.microsoft.com/office/drawing/2014/main" id="{01BC53D7-E78F-4467-94AF-B42851138E6E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8" name="text-017">
            <a:extLst>
              <a:ext uri="{FF2B5EF4-FFF2-40B4-BE49-F238E27FC236}">
                <a16:creationId xmlns:a16="http://schemas.microsoft.com/office/drawing/2014/main" id="{31C6BAAE-0EA6-4F08-9E8C-B4DA1342C704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1619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按主题与时间</a:t>
            </a:r>
          </a:p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自动抓取、去重</a:t>
            </a:r>
          </a:p>
        </p:txBody>
      </p:sp>
      <p:sp>
        <p:nvSpPr>
          <p:cNvPr id="9" name="box-018">
            <a:extLst>
              <a:ext uri="{FF2B5EF4-FFF2-40B4-BE49-F238E27FC236}">
                <a16:creationId xmlns:a16="http://schemas.microsoft.com/office/drawing/2014/main" id="{386DFDE0-ADFC-47C6-9381-D0E675F42C48}"/>
              </a:ext>
            </a:extLst>
          </p:cNvPr>
          <p:cNvSpPr>
            <a:spLocks noGrp="1"/>
          </p:cNvSpPr>
          <p:nvPr/>
        </p:nvSpPr>
        <p:spPr>
          <a:xfrm>
            <a:off x="2705100" y="2095500"/>
            <a:ext cx="1962150" cy="2266950"/>
          </a:xfrm>
          <a:prstGeom prst="roundRect">
            <a:avLst>
              <a:gd name="adj" fmla="val 3883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0" name="text-019">
            <a:extLst>
              <a:ext uri="{FF2B5EF4-FFF2-40B4-BE49-F238E27FC236}">
                <a16:creationId xmlns:a16="http://schemas.microsoft.com/office/drawing/2014/main" id="{3587A32F-31A7-43F9-9768-EE9C118DEB94}"/>
              </a:ext>
            </a:extLst>
          </p:cNvPr>
          <p:cNvSpPr>
            <a:spLocks noGrp="1"/>
          </p:cNvSpPr>
          <p:nvPr/>
        </p:nvSpPr>
        <p:spPr>
          <a:xfrm>
            <a:off x="2876550" y="22860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text-020">
            <a:extLst>
              <a:ext uri="{FF2B5EF4-FFF2-40B4-BE49-F238E27FC236}">
                <a16:creationId xmlns:a16="http://schemas.microsoft.com/office/drawing/2014/main" id="{ADB79775-49FB-4CB9-AA91-BFA92665BFA5}"/>
              </a:ext>
            </a:extLst>
          </p:cNvPr>
          <p:cNvSpPr>
            <a:spLocks noGrp="1"/>
          </p:cNvSpPr>
          <p:nvPr/>
        </p:nvSpPr>
        <p:spPr>
          <a:xfrm>
            <a:off x="2876550" y="28003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理解</a:t>
            </a:r>
          </a:p>
        </p:txBody>
      </p:sp>
      <p:sp>
        <p:nvSpPr>
          <p:cNvPr id="12" name="text-021">
            <a:extLst>
              <a:ext uri="{FF2B5EF4-FFF2-40B4-BE49-F238E27FC236}">
                <a16:creationId xmlns:a16="http://schemas.microsoft.com/office/drawing/2014/main" id="{F3EDE274-1F25-464B-A000-D8A5D95C47CC}"/>
              </a:ext>
            </a:extLst>
          </p:cNvPr>
          <p:cNvSpPr>
            <a:spLocks noGrp="1"/>
          </p:cNvSpPr>
          <p:nvPr/>
        </p:nvSpPr>
        <p:spPr>
          <a:xfrm>
            <a:off x="2876550" y="3486150"/>
            <a:ext cx="1619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PDF 解析</a:t>
            </a:r>
          </a:p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摘要 / 概念 / 方法</a:t>
            </a:r>
          </a:p>
        </p:txBody>
      </p:sp>
      <p:sp>
        <p:nvSpPr>
          <p:cNvPr id="13" name="box-022">
            <a:extLst>
              <a:ext uri="{FF2B5EF4-FFF2-40B4-BE49-F238E27FC236}">
                <a16:creationId xmlns:a16="http://schemas.microsoft.com/office/drawing/2014/main" id="{053AAF30-3A10-4BE1-9CBD-F1B525C56703}"/>
              </a:ext>
            </a:extLst>
          </p:cNvPr>
          <p:cNvSpPr>
            <a:spLocks noGrp="1"/>
          </p:cNvSpPr>
          <p:nvPr/>
        </p:nvSpPr>
        <p:spPr>
          <a:xfrm>
            <a:off x="5010150" y="2095500"/>
            <a:ext cx="1962150" cy="2266950"/>
          </a:xfrm>
          <a:prstGeom prst="roundRect">
            <a:avLst>
              <a:gd name="adj" fmla="val 3883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4" name="text-023">
            <a:extLst>
              <a:ext uri="{FF2B5EF4-FFF2-40B4-BE49-F238E27FC236}">
                <a16:creationId xmlns:a16="http://schemas.microsoft.com/office/drawing/2014/main" id="{A1EED48C-4CA8-4F95-ACAC-0E30C6F662F6}"/>
              </a:ext>
            </a:extLst>
          </p:cNvPr>
          <p:cNvSpPr>
            <a:spLocks noGrp="1"/>
          </p:cNvSpPr>
          <p:nvPr/>
        </p:nvSpPr>
        <p:spPr>
          <a:xfrm>
            <a:off x="5181600" y="22860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text-024">
            <a:extLst>
              <a:ext uri="{FF2B5EF4-FFF2-40B4-BE49-F238E27FC236}">
                <a16:creationId xmlns:a16="http://schemas.microsoft.com/office/drawing/2014/main" id="{2D26F42D-FE7D-4DED-864A-AFBB6B6014CB}"/>
              </a:ext>
            </a:extLst>
          </p:cNvPr>
          <p:cNvSpPr>
            <a:spLocks noGrp="1"/>
          </p:cNvSpPr>
          <p:nvPr/>
        </p:nvSpPr>
        <p:spPr>
          <a:xfrm>
            <a:off x="5181600" y="28003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组织</a:t>
            </a:r>
          </a:p>
        </p:txBody>
      </p:sp>
      <p:sp>
        <p:nvSpPr>
          <p:cNvPr id="16" name="text-025">
            <a:extLst>
              <a:ext uri="{FF2B5EF4-FFF2-40B4-BE49-F238E27FC236}">
                <a16:creationId xmlns:a16="http://schemas.microsoft.com/office/drawing/2014/main" id="{D8C52B30-7A6C-4209-83E7-29A0EA341B2B}"/>
              </a:ext>
            </a:extLst>
          </p:cNvPr>
          <p:cNvSpPr>
            <a:spLocks noGrp="1"/>
          </p:cNvSpPr>
          <p:nvPr/>
        </p:nvSpPr>
        <p:spPr>
          <a:xfrm>
            <a:off x="5181600" y="3486150"/>
            <a:ext cx="1619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Wiki、引用与</a:t>
            </a:r>
          </a:p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概念关系</a:t>
            </a:r>
          </a:p>
        </p:txBody>
      </p:sp>
      <p:sp>
        <p:nvSpPr>
          <p:cNvPr id="17" name="box-026">
            <a:extLst>
              <a:ext uri="{FF2B5EF4-FFF2-40B4-BE49-F238E27FC236}">
                <a16:creationId xmlns:a16="http://schemas.microsoft.com/office/drawing/2014/main" id="{0AD4BC9B-81BE-4A91-9551-5A738A7B9089}"/>
              </a:ext>
            </a:extLst>
          </p:cNvPr>
          <p:cNvSpPr>
            <a:spLocks noGrp="1"/>
          </p:cNvSpPr>
          <p:nvPr/>
        </p:nvSpPr>
        <p:spPr>
          <a:xfrm>
            <a:off x="7315200" y="2095500"/>
            <a:ext cx="1962150" cy="2266950"/>
          </a:xfrm>
          <a:prstGeom prst="roundRect">
            <a:avLst>
              <a:gd name="adj" fmla="val 3883"/>
            </a:avLst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8" name="text-027">
            <a:extLst>
              <a:ext uri="{FF2B5EF4-FFF2-40B4-BE49-F238E27FC236}">
                <a16:creationId xmlns:a16="http://schemas.microsoft.com/office/drawing/2014/main" id="{F0FBC123-B8DD-4C99-9618-E0323C7026D4}"/>
              </a:ext>
            </a:extLst>
          </p:cNvPr>
          <p:cNvSpPr>
            <a:spLocks noGrp="1"/>
          </p:cNvSpPr>
          <p:nvPr/>
        </p:nvSpPr>
        <p:spPr>
          <a:xfrm>
            <a:off x="7486650" y="22860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text-028">
            <a:extLst>
              <a:ext uri="{FF2B5EF4-FFF2-40B4-BE49-F238E27FC236}">
                <a16:creationId xmlns:a16="http://schemas.microsoft.com/office/drawing/2014/main" id="{D35BDC3E-BE77-469D-B61B-C4B73D2C08F0}"/>
              </a:ext>
            </a:extLst>
          </p:cNvPr>
          <p:cNvSpPr>
            <a:spLocks noGrp="1"/>
          </p:cNvSpPr>
          <p:nvPr/>
        </p:nvSpPr>
        <p:spPr>
          <a:xfrm>
            <a:off x="7486650" y="28003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交互</a:t>
            </a:r>
          </a:p>
        </p:txBody>
      </p:sp>
      <p:sp>
        <p:nvSpPr>
          <p:cNvPr id="20" name="text-029">
            <a:extLst>
              <a:ext uri="{FF2B5EF4-FFF2-40B4-BE49-F238E27FC236}">
                <a16:creationId xmlns:a16="http://schemas.microsoft.com/office/drawing/2014/main" id="{373D53EC-F633-48A4-B447-4419AE95B019}"/>
              </a:ext>
            </a:extLst>
          </p:cNvPr>
          <p:cNvSpPr>
            <a:spLocks noGrp="1"/>
          </p:cNvSpPr>
          <p:nvPr/>
        </p:nvSpPr>
        <p:spPr>
          <a:xfrm>
            <a:off x="7486650" y="3486150"/>
            <a:ext cx="1619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混合检索</a:t>
            </a:r>
          </a:p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证据绑定问答</a:t>
            </a:r>
          </a:p>
        </p:txBody>
      </p:sp>
      <p:sp>
        <p:nvSpPr>
          <p:cNvPr id="21" name="box-030">
            <a:extLst>
              <a:ext uri="{FF2B5EF4-FFF2-40B4-BE49-F238E27FC236}">
                <a16:creationId xmlns:a16="http://schemas.microsoft.com/office/drawing/2014/main" id="{B2D2F82C-4B7A-42F8-9DF7-0C3C7D068F33}"/>
              </a:ext>
            </a:extLst>
          </p:cNvPr>
          <p:cNvSpPr>
            <a:spLocks noGrp="1"/>
          </p:cNvSpPr>
          <p:nvPr/>
        </p:nvSpPr>
        <p:spPr>
          <a:xfrm>
            <a:off x="9620250" y="2095500"/>
            <a:ext cx="1962150" cy="2266950"/>
          </a:xfrm>
          <a:prstGeom prst="roundRect">
            <a:avLst>
              <a:gd name="adj" fmla="val 3883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22" name="text-031">
            <a:extLst>
              <a:ext uri="{FF2B5EF4-FFF2-40B4-BE49-F238E27FC236}">
                <a16:creationId xmlns:a16="http://schemas.microsoft.com/office/drawing/2014/main" id="{A9A5EF8A-98DE-46DB-ACD5-78F4412AFCC3}"/>
              </a:ext>
            </a:extLst>
          </p:cNvPr>
          <p:cNvSpPr>
            <a:spLocks noGrp="1"/>
          </p:cNvSpPr>
          <p:nvPr/>
        </p:nvSpPr>
        <p:spPr>
          <a:xfrm>
            <a:off x="9791700" y="22860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text-032">
            <a:extLst>
              <a:ext uri="{FF2B5EF4-FFF2-40B4-BE49-F238E27FC236}">
                <a16:creationId xmlns:a16="http://schemas.microsoft.com/office/drawing/2014/main" id="{68612D0C-4FFE-4C6E-8499-288EE22953DE}"/>
              </a:ext>
            </a:extLst>
          </p:cNvPr>
          <p:cNvSpPr>
            <a:spLocks noGrp="1"/>
          </p:cNvSpPr>
          <p:nvPr/>
        </p:nvSpPr>
        <p:spPr>
          <a:xfrm>
            <a:off x="9791700" y="280035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沉淀</a:t>
            </a:r>
          </a:p>
        </p:txBody>
      </p:sp>
      <p:sp>
        <p:nvSpPr>
          <p:cNvPr id="24" name="text-033">
            <a:extLst>
              <a:ext uri="{FF2B5EF4-FFF2-40B4-BE49-F238E27FC236}">
                <a16:creationId xmlns:a16="http://schemas.microsoft.com/office/drawing/2014/main" id="{5A1AB569-7A52-4341-9630-6D5BF5C30050}"/>
              </a:ext>
            </a:extLst>
          </p:cNvPr>
          <p:cNvSpPr>
            <a:spLocks noGrp="1"/>
          </p:cNvSpPr>
          <p:nvPr/>
        </p:nvSpPr>
        <p:spPr>
          <a:xfrm>
            <a:off x="9791700" y="3486150"/>
            <a:ext cx="1619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收藏、笔记</a:t>
            </a:r>
          </a:p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订阅与推荐</a:t>
            </a:r>
          </a:p>
        </p:txBody>
      </p:sp>
      <p:cxnSp>
        <p:nvCxnSpPr>
          <p:cNvPr id="112" name="Straight Arrow Connector 55"/>
          <p:cNvCxnSpPr>
            <a:stCxn id="5" idx="3"/>
            <a:endCxn id="9" idx="1"/>
          </p:cNvCxnSpPr>
          <p:nvPr/>
        </p:nvCxnSpPr>
        <p:spPr>
          <a:xfrm>
            <a:off x="2362200" y="3228975"/>
            <a:ext cx="342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3" name="Straight Arrow Connector 56"/>
          <p:cNvCxnSpPr>
            <a:stCxn id="9" idx="3"/>
            <a:endCxn id="13" idx="1"/>
          </p:cNvCxnSpPr>
          <p:nvPr/>
        </p:nvCxnSpPr>
        <p:spPr>
          <a:xfrm>
            <a:off x="4667250" y="3228975"/>
            <a:ext cx="342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4" name="Straight Arrow Connector 57"/>
          <p:cNvCxnSpPr>
            <a:stCxn id="13" idx="3"/>
            <a:endCxn id="17" idx="1"/>
          </p:cNvCxnSpPr>
          <p:nvPr/>
        </p:nvCxnSpPr>
        <p:spPr>
          <a:xfrm>
            <a:off x="6972300" y="3228975"/>
            <a:ext cx="342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5" name="Straight Arrow Connector 58"/>
          <p:cNvCxnSpPr>
            <a:stCxn id="17" idx="3"/>
            <a:endCxn id="21" idx="1"/>
          </p:cNvCxnSpPr>
          <p:nvPr/>
        </p:nvCxnSpPr>
        <p:spPr>
          <a:xfrm>
            <a:off x="9277350" y="3228975"/>
            <a:ext cx="342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9" name="box-034">
            <a:extLst>
              <a:ext uri="{FF2B5EF4-FFF2-40B4-BE49-F238E27FC236}">
                <a16:creationId xmlns:a16="http://schemas.microsoft.com/office/drawing/2014/main" id="{55DCE2CD-21C5-429C-AAA4-912B686C6C52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11391900" cy="1009650"/>
          </a:xfrm>
          <a:prstGeom prst="roundRect">
            <a:avLst>
              <a:gd name="adj" fmla="val 7547"/>
            </a:avLst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0" name="text-035">
            <a:extLst>
              <a:ext uri="{FF2B5EF4-FFF2-40B4-BE49-F238E27FC236}">
                <a16:creationId xmlns:a16="http://schemas.microsoft.com/office/drawing/2014/main" id="{E754FB10-1298-49DE-B042-03BEDF607CAF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主动抓取 + 可追溯回答 + 个性化学习</a:t>
            </a:r>
          </a:p>
        </p:txBody>
      </p:sp>
      <p:sp>
        <p:nvSpPr>
          <p:cNvPr id="31" name="text-036">
            <a:extLst>
              <a:ext uri="{FF2B5EF4-FFF2-40B4-BE49-F238E27FC236}">
                <a16:creationId xmlns:a16="http://schemas.microsoft.com/office/drawing/2014/main" id="{EC35AF62-401E-4BC3-AAEE-5288443B8D68}"/>
              </a:ext>
            </a:extLst>
          </p:cNvPr>
          <p:cNvSpPr>
            <a:spLocks noGrp="1"/>
          </p:cNvSpPr>
          <p:nvPr/>
        </p:nvSpPr>
        <p:spPr>
          <a:xfrm>
            <a:off x="6715125" y="5210175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用户在同一系统中完成发现、理解、组织与复习</a:t>
            </a:r>
            <a:r>
              <a:rPr sz="1500" b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3541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-037">
            <a:extLst>
              <a:ext uri="{FF2B5EF4-FFF2-40B4-BE49-F238E27FC236}">
                <a16:creationId xmlns:a16="http://schemas.microsoft.com/office/drawing/2014/main" id="{8647D71E-19B7-48F5-9B1E-C58A9A578911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创新点</a:t>
            </a:r>
          </a:p>
        </p:txBody>
      </p:sp>
      <p:sp>
        <p:nvSpPr>
          <p:cNvPr id="2" name="text-038">
            <a:extLst>
              <a:ext uri="{FF2B5EF4-FFF2-40B4-BE49-F238E27FC236}">
                <a16:creationId xmlns:a16="http://schemas.microsoft.com/office/drawing/2014/main" id="{773B2B16-45F1-4A8C-ABA7-787C6CF15D84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三项关键做法，让系统稳定、可信、好扩展</a:t>
            </a:r>
          </a:p>
        </p:txBody>
      </p:sp>
      <p:sp>
        <p:nvSpPr>
          <p:cNvPr id="3" name="text-039">
            <a:extLst>
              <a:ext uri="{FF2B5EF4-FFF2-40B4-BE49-F238E27FC236}">
                <a16:creationId xmlns:a16="http://schemas.microsoft.com/office/drawing/2014/main" id="{87F5450C-1BE2-42A0-A177-5E44E5ED25CE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03 / 12</a:t>
            </a:r>
          </a:p>
        </p:txBody>
      </p:sp>
      <p:sp>
        <p:nvSpPr>
          <p:cNvPr id="4" name="text-040">
            <a:extLst>
              <a:ext uri="{FF2B5EF4-FFF2-40B4-BE49-F238E27FC236}">
                <a16:creationId xmlns:a16="http://schemas.microsoft.com/office/drawing/2014/main" id="{F894B274-BB09-489F-9001-E8A90DCC8F69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876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ule-041">
            <a:extLst>
              <a:ext uri="{FF2B5EF4-FFF2-40B4-BE49-F238E27FC236}">
                <a16:creationId xmlns:a16="http://schemas.microsoft.com/office/drawing/2014/main" id="{A5F1F1BD-D737-452D-8554-FEDC6FF93AF1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3448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6" name="text-042">
            <a:extLst>
              <a:ext uri="{FF2B5EF4-FFF2-40B4-BE49-F238E27FC236}">
                <a16:creationId xmlns:a16="http://schemas.microsoft.com/office/drawing/2014/main" id="{1A900C00-BC6B-482A-9CFE-D51B32C76291}"/>
              </a:ext>
            </a:extLst>
          </p:cNvPr>
          <p:cNvSpPr>
            <a:spLocks noGrp="1"/>
          </p:cNvSpPr>
          <p:nvPr/>
        </p:nvSpPr>
        <p:spPr>
          <a:xfrm>
            <a:off x="400050" y="27622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换模型不用大改</a:t>
            </a:r>
          </a:p>
        </p:txBody>
      </p:sp>
      <p:sp>
        <p:nvSpPr>
          <p:cNvPr id="7" name="text-043">
            <a:extLst>
              <a:ext uri="{FF2B5EF4-FFF2-40B4-BE49-F238E27FC236}">
                <a16:creationId xmlns:a16="http://schemas.microsoft.com/office/drawing/2014/main" id="{FBFCECDF-9A16-4F96-8411-3D0638CC8EED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3333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模型、向量服务和搜索都通过统一接口接入。以后更换供应商，只需替换接口后的实现。</a:t>
            </a:r>
          </a:p>
        </p:txBody>
      </p:sp>
      <p:sp>
        <p:nvSpPr>
          <p:cNvPr id="8" name="text-044">
            <a:extLst>
              <a:ext uri="{FF2B5EF4-FFF2-40B4-BE49-F238E27FC236}">
                <a16:creationId xmlns:a16="http://schemas.microsoft.com/office/drawing/2014/main" id="{B0F0B864-603B-470F-BCCB-8F8B053034B4}"/>
              </a:ext>
            </a:extLst>
          </p:cNvPr>
          <p:cNvSpPr>
            <a:spLocks noGrp="1"/>
          </p:cNvSpPr>
          <p:nvPr/>
        </p:nvSpPr>
        <p:spPr>
          <a:xfrm>
            <a:off x="400050" y="51625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统一接口，降低更换成本</a:t>
            </a:r>
          </a:p>
        </p:txBody>
      </p:sp>
      <p:sp>
        <p:nvSpPr>
          <p:cNvPr id="9" name="text-045">
            <a:extLst>
              <a:ext uri="{FF2B5EF4-FFF2-40B4-BE49-F238E27FC236}">
                <a16:creationId xmlns:a16="http://schemas.microsoft.com/office/drawing/2014/main" id="{FBC0FCEB-3736-44AF-90AD-8B357D05F57C}"/>
              </a:ext>
            </a:extLst>
          </p:cNvPr>
          <p:cNvSpPr>
            <a:spLocks noGrp="1"/>
          </p:cNvSpPr>
          <p:nvPr/>
        </p:nvSpPr>
        <p:spPr>
          <a:xfrm>
            <a:off x="4314825" y="1752600"/>
            <a:ext cx="876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ule-046">
            <a:extLst>
              <a:ext uri="{FF2B5EF4-FFF2-40B4-BE49-F238E27FC236}">
                <a16:creationId xmlns:a16="http://schemas.microsoft.com/office/drawing/2014/main" id="{5A88677B-36A7-4125-A409-0E53AFBFC1E5}"/>
              </a:ext>
            </a:extLst>
          </p:cNvPr>
          <p:cNvSpPr>
            <a:spLocks noGrp="1"/>
          </p:cNvSpPr>
          <p:nvPr/>
        </p:nvSpPr>
        <p:spPr>
          <a:xfrm>
            <a:off x="4314825" y="2476500"/>
            <a:ext cx="3448050" cy="0"/>
          </a:xfrm>
          <a:prstGeom prst="line">
            <a:avLst/>
          </a:prstGeom>
          <a:noFill/>
          <a:ln w="38100">
            <a:solidFill>
              <a:srgbClr val="3D8DFF"/>
            </a:solidFill>
            <a:prstDash val="solid"/>
          </a:ln>
        </p:spPr>
      </p:sp>
      <p:sp>
        <p:nvSpPr>
          <p:cNvPr id="11" name="text-047">
            <a:extLst>
              <a:ext uri="{FF2B5EF4-FFF2-40B4-BE49-F238E27FC236}">
                <a16:creationId xmlns:a16="http://schemas.microsoft.com/office/drawing/2014/main" id="{F5762913-0E09-4E41-8E60-76B27C734C18}"/>
              </a:ext>
            </a:extLst>
          </p:cNvPr>
          <p:cNvSpPr>
            <a:spLocks noGrp="1"/>
          </p:cNvSpPr>
          <p:nvPr/>
        </p:nvSpPr>
        <p:spPr>
          <a:xfrm>
            <a:off x="4314825" y="27622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每个回答都能查来源</a:t>
            </a:r>
          </a:p>
        </p:txBody>
      </p:sp>
      <p:sp>
        <p:nvSpPr>
          <p:cNvPr id="12" name="text-048">
            <a:extLst>
              <a:ext uri="{FF2B5EF4-FFF2-40B4-BE49-F238E27FC236}">
                <a16:creationId xmlns:a16="http://schemas.microsoft.com/office/drawing/2014/main" id="{649448B8-753B-459E-B970-54A9D52FC24E}"/>
              </a:ext>
            </a:extLst>
          </p:cNvPr>
          <p:cNvSpPr>
            <a:spLocks noGrp="1"/>
          </p:cNvSpPr>
          <p:nvPr/>
        </p:nvSpPr>
        <p:spPr>
          <a:xfrm>
            <a:off x="4314825" y="3524250"/>
            <a:ext cx="3333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系统先从论文中找证据，再生成回答；答案会标出论文和原文片段，方便用户核对。</a:t>
            </a:r>
          </a:p>
        </p:txBody>
      </p:sp>
      <p:sp>
        <p:nvSpPr>
          <p:cNvPr id="13" name="text-049">
            <a:extLst>
              <a:ext uri="{FF2B5EF4-FFF2-40B4-BE49-F238E27FC236}">
                <a16:creationId xmlns:a16="http://schemas.microsoft.com/office/drawing/2014/main" id="{7195C67B-02FA-416C-8B52-4B4863C51C91}"/>
              </a:ext>
            </a:extLst>
          </p:cNvPr>
          <p:cNvSpPr>
            <a:spLocks noGrp="1"/>
          </p:cNvSpPr>
          <p:nvPr/>
        </p:nvSpPr>
        <p:spPr>
          <a:xfrm>
            <a:off x="4314825" y="51625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回答有出处，不靠“猜”</a:t>
            </a:r>
          </a:p>
        </p:txBody>
      </p:sp>
      <p:sp>
        <p:nvSpPr>
          <p:cNvPr id="14" name="text-050">
            <a:extLst>
              <a:ext uri="{FF2B5EF4-FFF2-40B4-BE49-F238E27FC236}">
                <a16:creationId xmlns:a16="http://schemas.microsoft.com/office/drawing/2014/main" id="{D019B67A-48F0-4E1D-B583-0A8759D54DC8}"/>
              </a:ext>
            </a:extLst>
          </p:cNvPr>
          <p:cNvSpPr>
            <a:spLocks noGrp="1"/>
          </p:cNvSpPr>
          <p:nvPr/>
        </p:nvSpPr>
        <p:spPr>
          <a:xfrm>
            <a:off x="8229600" y="1752600"/>
            <a:ext cx="876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rule-051">
            <a:extLst>
              <a:ext uri="{FF2B5EF4-FFF2-40B4-BE49-F238E27FC236}">
                <a16:creationId xmlns:a16="http://schemas.microsoft.com/office/drawing/2014/main" id="{D1075F7F-AD6D-4FD4-8032-295B91854AC4}"/>
              </a:ext>
            </a:extLst>
          </p:cNvPr>
          <p:cNvSpPr>
            <a:spLocks noGrp="1"/>
          </p:cNvSpPr>
          <p:nvPr/>
        </p:nvSpPr>
        <p:spPr>
          <a:xfrm>
            <a:off x="8229600" y="2476500"/>
            <a:ext cx="3448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6" name="text-052">
            <a:extLst>
              <a:ext uri="{FF2B5EF4-FFF2-40B4-BE49-F238E27FC236}">
                <a16:creationId xmlns:a16="http://schemas.microsoft.com/office/drawing/2014/main" id="{CFB9E26E-C0C1-4C4F-BFB0-DF878BBB1167}"/>
              </a:ext>
            </a:extLst>
          </p:cNvPr>
          <p:cNvSpPr>
            <a:spLocks noGrp="1"/>
          </p:cNvSpPr>
          <p:nvPr/>
        </p:nvSpPr>
        <p:spPr>
          <a:xfrm>
            <a:off x="8229600" y="27622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任务失败可以接着跑</a:t>
            </a:r>
          </a:p>
        </p:txBody>
      </p:sp>
      <p:sp>
        <p:nvSpPr>
          <p:cNvPr id="17" name="text-053">
            <a:extLst>
              <a:ext uri="{FF2B5EF4-FFF2-40B4-BE49-F238E27FC236}">
                <a16:creationId xmlns:a16="http://schemas.microsoft.com/office/drawing/2014/main" id="{7A06B1DA-7267-491D-87AE-EEA9FEE3AD49}"/>
              </a:ext>
            </a:extLst>
          </p:cNvPr>
          <p:cNvSpPr>
            <a:spLocks noGrp="1"/>
          </p:cNvSpPr>
          <p:nvPr/>
        </p:nvSpPr>
        <p:spPr>
          <a:xfrm>
            <a:off x="8229600" y="3524250"/>
            <a:ext cx="3333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论文分析会分阶段保存进度。网络或模型临时出错时自动重试，不必从头开始。</a:t>
            </a:r>
          </a:p>
        </p:txBody>
      </p:sp>
    </p:spTree>
    <p:extLst>
      <p:ext uri="{BB962C8B-B14F-4D97-AF65-F5344CB8AC3E}">
        <p14:creationId xmlns:p14="http://schemas.microsoft.com/office/powerpoint/2010/main" val="173638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-056">
            <a:extLst>
              <a:ext uri="{FF2B5EF4-FFF2-40B4-BE49-F238E27FC236}">
                <a16:creationId xmlns:a16="http://schemas.microsoft.com/office/drawing/2014/main" id="{BD031661-899F-4ED3-9DAC-EF36481B232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系统架构</a:t>
            </a:r>
          </a:p>
        </p:txBody>
      </p:sp>
      <p:sp>
        <p:nvSpPr>
          <p:cNvPr id="2" name="text-057">
            <a:extLst>
              <a:ext uri="{FF2B5EF4-FFF2-40B4-BE49-F238E27FC236}">
                <a16:creationId xmlns:a16="http://schemas.microsoft.com/office/drawing/2014/main" id="{2E11A06C-7D1A-4CCC-A60F-7AF6C97EF05B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分层架构让五人并行开发仍保持单向依赖</a:t>
            </a:r>
          </a:p>
        </p:txBody>
      </p:sp>
      <p:sp>
        <p:nvSpPr>
          <p:cNvPr id="3" name="text-058">
            <a:extLst>
              <a:ext uri="{FF2B5EF4-FFF2-40B4-BE49-F238E27FC236}">
                <a16:creationId xmlns:a16="http://schemas.microsoft.com/office/drawing/2014/main" id="{0ACC2450-FE38-4F55-848D-2566BEC49FB7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04 / 12</a:t>
            </a:r>
          </a:p>
        </p:txBody>
      </p:sp>
      <p:sp>
        <p:nvSpPr>
          <p:cNvPr id="4" name="box-059">
            <a:extLst>
              <a:ext uri="{FF2B5EF4-FFF2-40B4-BE49-F238E27FC236}">
                <a16:creationId xmlns:a16="http://schemas.microsoft.com/office/drawing/2014/main" id="{2AE3F8D3-325A-429C-98A9-C6E8BF6FC7C8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7486650" cy="590550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5" name="text-060">
            <a:extLst>
              <a:ext uri="{FF2B5EF4-FFF2-40B4-BE49-F238E27FC236}">
                <a16:creationId xmlns:a16="http://schemas.microsoft.com/office/drawing/2014/main" id="{722B8114-202E-497C-AAC3-A02D461D6ECC}"/>
              </a:ext>
            </a:extLst>
          </p:cNvPr>
          <p:cNvSpPr>
            <a:spLocks noGrp="1"/>
          </p:cNvSpPr>
          <p:nvPr/>
        </p:nvSpPr>
        <p:spPr>
          <a:xfrm>
            <a:off x="571500" y="16002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text-061">
            <a:extLst>
              <a:ext uri="{FF2B5EF4-FFF2-40B4-BE49-F238E27FC236}">
                <a16:creationId xmlns:a16="http://schemas.microsoft.com/office/drawing/2014/main" id="{C2968A4F-3730-4283-A2DD-A5F7CF4E5908}"/>
              </a:ext>
            </a:extLst>
          </p:cNvPr>
          <p:cNvSpPr>
            <a:spLocks noGrp="1"/>
          </p:cNvSpPr>
          <p:nvPr/>
        </p:nvSpPr>
        <p:spPr>
          <a:xfrm>
            <a:off x="1181100" y="1552575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表现层</a:t>
            </a:r>
          </a:p>
        </p:txBody>
      </p:sp>
      <p:sp>
        <p:nvSpPr>
          <p:cNvPr id="7" name="text-062">
            <a:extLst>
              <a:ext uri="{FF2B5EF4-FFF2-40B4-BE49-F238E27FC236}">
                <a16:creationId xmlns:a16="http://schemas.microsoft.com/office/drawing/2014/main" id="{56EC235D-FB78-4CF5-B2AC-5C9FE543969D}"/>
              </a:ext>
            </a:extLst>
          </p:cNvPr>
          <p:cNvSpPr>
            <a:spLocks noGrp="1"/>
          </p:cNvSpPr>
          <p:nvPr/>
        </p:nvSpPr>
        <p:spPr>
          <a:xfrm>
            <a:off x="3143250" y="159067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React pages · layouts · hooks</a:t>
            </a:r>
          </a:p>
        </p:txBody>
      </p:sp>
      <p:sp>
        <p:nvSpPr>
          <p:cNvPr id="8" name="box-063">
            <a:extLst>
              <a:ext uri="{FF2B5EF4-FFF2-40B4-BE49-F238E27FC236}">
                <a16:creationId xmlns:a16="http://schemas.microsoft.com/office/drawing/2014/main" id="{F959884C-F4D4-4D52-8882-44AC81C6EBE8}"/>
              </a:ext>
            </a:extLst>
          </p:cNvPr>
          <p:cNvSpPr>
            <a:spLocks noGrp="1"/>
          </p:cNvSpPr>
          <p:nvPr/>
        </p:nvSpPr>
        <p:spPr>
          <a:xfrm>
            <a:off x="400050" y="2171700"/>
            <a:ext cx="7486650" cy="590550"/>
          </a:xfrm>
          <a:prstGeom prst="roundRect">
            <a:avLst>
              <a:gd name="adj" fmla="val 8065"/>
            </a:avLst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9" name="text-064">
            <a:extLst>
              <a:ext uri="{FF2B5EF4-FFF2-40B4-BE49-F238E27FC236}">
                <a16:creationId xmlns:a16="http://schemas.microsoft.com/office/drawing/2014/main" id="{97E9FA08-850C-4906-B1C3-10DA5D25272F}"/>
              </a:ext>
            </a:extLst>
          </p:cNvPr>
          <p:cNvSpPr>
            <a:spLocks noGrp="1"/>
          </p:cNvSpPr>
          <p:nvPr/>
        </p:nvSpPr>
        <p:spPr>
          <a:xfrm>
            <a:off x="571500" y="2343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ext-065">
            <a:extLst>
              <a:ext uri="{FF2B5EF4-FFF2-40B4-BE49-F238E27FC236}">
                <a16:creationId xmlns:a16="http://schemas.microsoft.com/office/drawing/2014/main" id="{33A99815-E530-4311-B42D-76C5542F7B1E}"/>
              </a:ext>
            </a:extLst>
          </p:cNvPr>
          <p:cNvSpPr>
            <a:spLocks noGrp="1"/>
          </p:cNvSpPr>
          <p:nvPr/>
        </p:nvSpPr>
        <p:spPr>
          <a:xfrm>
            <a:off x="1181100" y="2295525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前端服务接口</a:t>
            </a:r>
          </a:p>
        </p:txBody>
      </p:sp>
      <p:sp>
        <p:nvSpPr>
          <p:cNvPr id="11" name="text-066">
            <a:extLst>
              <a:ext uri="{FF2B5EF4-FFF2-40B4-BE49-F238E27FC236}">
                <a16:creationId xmlns:a16="http://schemas.microsoft.com/office/drawing/2014/main" id="{583576C5-8D6C-47CA-89C4-1EF0DD02DE3E}"/>
              </a:ext>
            </a:extLst>
          </p:cNvPr>
          <p:cNvSpPr>
            <a:spLocks noGrp="1"/>
          </p:cNvSpPr>
          <p:nvPr/>
        </p:nvSpPr>
        <p:spPr>
          <a:xfrm>
            <a:off x="3143250" y="23336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services · apiClient · Mock / HTTP</a:t>
            </a:r>
          </a:p>
        </p:txBody>
      </p:sp>
      <p:sp>
        <p:nvSpPr>
          <p:cNvPr id="12" name="box-067">
            <a:extLst>
              <a:ext uri="{FF2B5EF4-FFF2-40B4-BE49-F238E27FC236}">
                <a16:creationId xmlns:a16="http://schemas.microsoft.com/office/drawing/2014/main" id="{6B9D8452-DEA7-4C4C-8F9A-95AD741E0AAD}"/>
              </a:ext>
            </a:extLst>
          </p:cNvPr>
          <p:cNvSpPr>
            <a:spLocks noGrp="1"/>
          </p:cNvSpPr>
          <p:nvPr/>
        </p:nvSpPr>
        <p:spPr>
          <a:xfrm>
            <a:off x="400050" y="2914650"/>
            <a:ext cx="7486650" cy="590550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3" name="text-068">
            <a:extLst>
              <a:ext uri="{FF2B5EF4-FFF2-40B4-BE49-F238E27FC236}">
                <a16:creationId xmlns:a16="http://schemas.microsoft.com/office/drawing/2014/main" id="{F164C0F1-7D34-47A6-9A58-FC69AC85E699}"/>
              </a:ext>
            </a:extLst>
          </p:cNvPr>
          <p:cNvSpPr>
            <a:spLocks noGrp="1"/>
          </p:cNvSpPr>
          <p:nvPr/>
        </p:nvSpPr>
        <p:spPr>
          <a:xfrm>
            <a:off x="571500" y="30861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ext-069">
            <a:extLst>
              <a:ext uri="{FF2B5EF4-FFF2-40B4-BE49-F238E27FC236}">
                <a16:creationId xmlns:a16="http://schemas.microsoft.com/office/drawing/2014/main" id="{486CD5E6-0951-4A8B-A42D-37C3E2B647B4}"/>
              </a:ext>
            </a:extLst>
          </p:cNvPr>
          <p:cNvSpPr>
            <a:spLocks noGrp="1"/>
          </p:cNvSpPr>
          <p:nvPr/>
        </p:nvSpPr>
        <p:spPr>
          <a:xfrm>
            <a:off x="1181100" y="3038475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接口层</a:t>
            </a:r>
          </a:p>
        </p:txBody>
      </p:sp>
      <p:sp>
        <p:nvSpPr>
          <p:cNvPr id="15" name="text-070">
            <a:extLst>
              <a:ext uri="{FF2B5EF4-FFF2-40B4-BE49-F238E27FC236}">
                <a16:creationId xmlns:a16="http://schemas.microsoft.com/office/drawing/2014/main" id="{E760EE8D-9332-40FE-A900-7DEAC1E8CC7B}"/>
              </a:ext>
            </a:extLst>
          </p:cNvPr>
          <p:cNvSpPr>
            <a:spLocks noGrp="1"/>
          </p:cNvSpPr>
          <p:nvPr/>
        </p:nvSpPr>
        <p:spPr>
          <a:xfrm>
            <a:off x="3143250" y="307657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FastAPI routers · schemas · auth</a:t>
            </a:r>
          </a:p>
        </p:txBody>
      </p:sp>
      <p:sp>
        <p:nvSpPr>
          <p:cNvPr id="16" name="box-071">
            <a:extLst>
              <a:ext uri="{FF2B5EF4-FFF2-40B4-BE49-F238E27FC236}">
                <a16:creationId xmlns:a16="http://schemas.microsoft.com/office/drawing/2014/main" id="{533EC815-2F62-4931-BA1B-01F56759B158}"/>
              </a:ext>
            </a:extLst>
          </p:cNvPr>
          <p:cNvSpPr>
            <a:spLocks noGrp="1"/>
          </p:cNvSpPr>
          <p:nvPr/>
        </p:nvSpPr>
        <p:spPr>
          <a:xfrm>
            <a:off x="400050" y="3657600"/>
            <a:ext cx="7486650" cy="590550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7" name="text-072">
            <a:extLst>
              <a:ext uri="{FF2B5EF4-FFF2-40B4-BE49-F238E27FC236}">
                <a16:creationId xmlns:a16="http://schemas.microsoft.com/office/drawing/2014/main" id="{94708C76-DA4F-4568-AAA2-8594272B08A4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text-073">
            <a:extLst>
              <a:ext uri="{FF2B5EF4-FFF2-40B4-BE49-F238E27FC236}">
                <a16:creationId xmlns:a16="http://schemas.microsoft.com/office/drawing/2014/main" id="{6CD1A0A9-C3DC-400C-9A98-948FAE21C67F}"/>
              </a:ext>
            </a:extLst>
          </p:cNvPr>
          <p:cNvSpPr>
            <a:spLocks noGrp="1"/>
          </p:cNvSpPr>
          <p:nvPr/>
        </p:nvSpPr>
        <p:spPr>
          <a:xfrm>
            <a:off x="1181100" y="3781425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应用层</a:t>
            </a:r>
          </a:p>
        </p:txBody>
      </p:sp>
      <p:sp>
        <p:nvSpPr>
          <p:cNvPr id="19" name="text-074">
            <a:extLst>
              <a:ext uri="{FF2B5EF4-FFF2-40B4-BE49-F238E27FC236}">
                <a16:creationId xmlns:a16="http://schemas.microsoft.com/office/drawing/2014/main" id="{DEE9F9DD-1F1D-4FB5-98F2-7CAFAA8EEB31}"/>
              </a:ext>
            </a:extLst>
          </p:cNvPr>
          <p:cNvSpPr>
            <a:spLocks noGrp="1"/>
          </p:cNvSpPr>
          <p:nvPr/>
        </p:nvSpPr>
        <p:spPr>
          <a:xfrm>
            <a:off x="3143250" y="38195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Paper · Search · Chat · Learning · Task</a:t>
            </a:r>
          </a:p>
        </p:txBody>
      </p:sp>
      <p:sp>
        <p:nvSpPr>
          <p:cNvPr id="20" name="box-075">
            <a:extLst>
              <a:ext uri="{FF2B5EF4-FFF2-40B4-BE49-F238E27FC236}">
                <a16:creationId xmlns:a16="http://schemas.microsoft.com/office/drawing/2014/main" id="{3395F1F9-67EE-45E9-BE66-F07E5789E003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7486650" cy="590550"/>
          </a:xfrm>
          <a:prstGeom prst="roundRect">
            <a:avLst>
              <a:gd name="adj" fmla="val 8065"/>
            </a:avLst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21" name="text-076">
            <a:extLst>
              <a:ext uri="{FF2B5EF4-FFF2-40B4-BE49-F238E27FC236}">
                <a16:creationId xmlns:a16="http://schemas.microsoft.com/office/drawing/2014/main" id="{D0C4D4FA-D31C-4FC5-9D25-7A198C025E45}"/>
              </a:ext>
            </a:extLst>
          </p:cNvPr>
          <p:cNvSpPr>
            <a:spLocks noGrp="1"/>
          </p:cNvSpPr>
          <p:nvPr/>
        </p:nvSpPr>
        <p:spPr>
          <a:xfrm>
            <a:off x="571500" y="45720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text-077">
            <a:extLst>
              <a:ext uri="{FF2B5EF4-FFF2-40B4-BE49-F238E27FC236}">
                <a16:creationId xmlns:a16="http://schemas.microsoft.com/office/drawing/2014/main" id="{0FF3CCFF-96DE-441C-A6C3-28BBC4685D53}"/>
              </a:ext>
            </a:extLst>
          </p:cNvPr>
          <p:cNvSpPr>
            <a:spLocks noGrp="1"/>
          </p:cNvSpPr>
          <p:nvPr/>
        </p:nvSpPr>
        <p:spPr>
          <a:xfrm>
            <a:off x="1181100" y="4524375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基础设施接口</a:t>
            </a:r>
          </a:p>
        </p:txBody>
      </p:sp>
      <p:sp>
        <p:nvSpPr>
          <p:cNvPr id="23" name="text-078">
            <a:extLst>
              <a:ext uri="{FF2B5EF4-FFF2-40B4-BE49-F238E27FC236}">
                <a16:creationId xmlns:a16="http://schemas.microsoft.com/office/drawing/2014/main" id="{1885CC2C-1981-4855-871F-BF90D4FB3791}"/>
              </a:ext>
            </a:extLst>
          </p:cNvPr>
          <p:cNvSpPr>
            <a:spLocks noGrp="1"/>
          </p:cNvSpPr>
          <p:nvPr/>
        </p:nvSpPr>
        <p:spPr>
          <a:xfrm>
            <a:off x="3143250" y="456247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LLMGateway · EmbeddingProvider · SearchService</a:t>
            </a:r>
          </a:p>
        </p:txBody>
      </p:sp>
      <p:sp>
        <p:nvSpPr>
          <p:cNvPr id="24" name="box-079">
            <a:extLst>
              <a:ext uri="{FF2B5EF4-FFF2-40B4-BE49-F238E27FC236}">
                <a16:creationId xmlns:a16="http://schemas.microsoft.com/office/drawing/2014/main" id="{C795A638-8AA8-418E-8FEA-05A1CBF963FE}"/>
              </a:ext>
            </a:extLst>
          </p:cNvPr>
          <p:cNvSpPr>
            <a:spLocks noGrp="1"/>
          </p:cNvSpPr>
          <p:nvPr/>
        </p:nvSpPr>
        <p:spPr>
          <a:xfrm>
            <a:off x="400050" y="5143500"/>
            <a:ext cx="7486650" cy="590550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25" name="text-080">
            <a:extLst>
              <a:ext uri="{FF2B5EF4-FFF2-40B4-BE49-F238E27FC236}">
                <a16:creationId xmlns:a16="http://schemas.microsoft.com/office/drawing/2014/main" id="{11635246-4544-46FA-ADA4-78E7DADDD419}"/>
              </a:ext>
            </a:extLst>
          </p:cNvPr>
          <p:cNvSpPr>
            <a:spLocks noGrp="1"/>
          </p:cNvSpPr>
          <p:nvPr/>
        </p:nvSpPr>
        <p:spPr>
          <a:xfrm>
            <a:off x="571500" y="53149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text-081">
            <a:extLst>
              <a:ext uri="{FF2B5EF4-FFF2-40B4-BE49-F238E27FC236}">
                <a16:creationId xmlns:a16="http://schemas.microsoft.com/office/drawing/2014/main" id="{3517DF94-9305-47FA-8057-DFC63C432AA6}"/>
              </a:ext>
            </a:extLst>
          </p:cNvPr>
          <p:cNvSpPr>
            <a:spLocks noGrp="1"/>
          </p:cNvSpPr>
          <p:nvPr/>
        </p:nvSpPr>
        <p:spPr>
          <a:xfrm>
            <a:off x="1181100" y="5267325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运行资源</a:t>
            </a:r>
          </a:p>
        </p:txBody>
      </p:sp>
      <p:sp>
        <p:nvSpPr>
          <p:cNvPr id="27" name="text-082">
            <a:extLst>
              <a:ext uri="{FF2B5EF4-FFF2-40B4-BE49-F238E27FC236}">
                <a16:creationId xmlns:a16="http://schemas.microsoft.com/office/drawing/2014/main" id="{44DA734C-3372-4609-8ADF-0596943BC263}"/>
              </a:ext>
            </a:extLst>
          </p:cNvPr>
          <p:cNvSpPr>
            <a:spLocks noGrp="1"/>
          </p:cNvSpPr>
          <p:nvPr/>
        </p:nvSpPr>
        <p:spPr>
          <a:xfrm>
            <a:off x="3143250" y="53054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PostgreSQL/pgvector · Redis/Celery · arXiv/LLM</a:t>
            </a:r>
          </a:p>
        </p:txBody>
      </p:sp>
      <p:cxnSp>
        <p:nvCxnSpPr>
          <p:cNvPr id="130" name="Straight Arrow Connector 65"/>
          <p:cNvCxnSpPr>
            <a:stCxn id="4" idx="2"/>
            <a:endCxn id="8" idx="0"/>
          </p:cNvCxnSpPr>
          <p:nvPr/>
        </p:nvCxnSpPr>
        <p:spPr>
          <a:xfrm>
            <a:off x="4143375" y="2019300"/>
            <a:ext cx="0" cy="1524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31" name="Straight Arrow Connector 66"/>
          <p:cNvCxnSpPr>
            <a:stCxn id="8" idx="2"/>
            <a:endCxn id="12" idx="0"/>
          </p:cNvCxnSpPr>
          <p:nvPr/>
        </p:nvCxnSpPr>
        <p:spPr>
          <a:xfrm>
            <a:off x="4143375" y="2762250"/>
            <a:ext cx="0" cy="1524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32" name="Straight Arrow Connector 67"/>
          <p:cNvCxnSpPr>
            <a:stCxn id="12" idx="2"/>
            <a:endCxn id="16" idx="0"/>
          </p:cNvCxnSpPr>
          <p:nvPr/>
        </p:nvCxnSpPr>
        <p:spPr>
          <a:xfrm>
            <a:off x="4143375" y="3505200"/>
            <a:ext cx="0" cy="1524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33" name="Straight Arrow Connector 68"/>
          <p:cNvCxnSpPr>
            <a:stCxn id="16" idx="2"/>
            <a:endCxn id="20" idx="0"/>
          </p:cNvCxnSpPr>
          <p:nvPr/>
        </p:nvCxnSpPr>
        <p:spPr>
          <a:xfrm>
            <a:off x="4143375" y="4248150"/>
            <a:ext cx="0" cy="1524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34" name="Straight Arrow Connector 69"/>
          <p:cNvCxnSpPr>
            <a:stCxn id="20" idx="2"/>
            <a:endCxn id="24" idx="0"/>
          </p:cNvCxnSpPr>
          <p:nvPr/>
        </p:nvCxnSpPr>
        <p:spPr>
          <a:xfrm>
            <a:off x="4143375" y="4991100"/>
            <a:ext cx="0" cy="1524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3" name="text-083">
            <a:extLst>
              <a:ext uri="{FF2B5EF4-FFF2-40B4-BE49-F238E27FC236}">
                <a16:creationId xmlns:a16="http://schemas.microsoft.com/office/drawing/2014/main" id="{3EB62908-232D-4ED2-AA3A-BD4B5EDBDE15}"/>
              </a:ext>
            </a:extLst>
          </p:cNvPr>
          <p:cNvSpPr>
            <a:spLocks noGrp="1"/>
          </p:cNvSpPr>
          <p:nvPr/>
        </p:nvSpPr>
        <p:spPr>
          <a:xfrm>
            <a:off x="8401050" y="15049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架构选择</a:t>
            </a:r>
          </a:p>
        </p:txBody>
      </p:sp>
      <p:sp>
        <p:nvSpPr>
          <p:cNvPr id="34" name="text-084">
            <a:extLst>
              <a:ext uri="{FF2B5EF4-FFF2-40B4-BE49-F238E27FC236}">
                <a16:creationId xmlns:a16="http://schemas.microsoft.com/office/drawing/2014/main" id="{ABF91828-51B8-471C-B073-88C8BE5F2516}"/>
              </a:ext>
            </a:extLst>
          </p:cNvPr>
          <p:cNvSpPr>
            <a:spLocks noGrp="1"/>
          </p:cNvSpPr>
          <p:nvPr/>
        </p:nvSpPr>
        <p:spPr>
          <a:xfrm>
            <a:off x="8401050" y="20193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模块化单体</a:t>
            </a:r>
          </a:p>
        </p:txBody>
      </p:sp>
      <p:sp>
        <p:nvSpPr>
          <p:cNvPr id="35" name="text-085">
            <a:extLst>
              <a:ext uri="{FF2B5EF4-FFF2-40B4-BE49-F238E27FC236}">
                <a16:creationId xmlns:a16="http://schemas.microsoft.com/office/drawing/2014/main" id="{8124D321-89F3-40A8-BAB8-3B0203E3F771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3143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团队与周期有限，避免微服务带来的部署、治理和分布式事务成本。</a:t>
            </a:r>
          </a:p>
        </p:txBody>
      </p:sp>
      <p:sp>
        <p:nvSpPr>
          <p:cNvPr id="36" name="rule-086">
            <a:extLst>
              <a:ext uri="{FF2B5EF4-FFF2-40B4-BE49-F238E27FC236}">
                <a16:creationId xmlns:a16="http://schemas.microsoft.com/office/drawing/2014/main" id="{F73E7DDF-D313-47B8-970A-2575483F3CD7}"/>
              </a:ext>
            </a:extLst>
          </p:cNvPr>
          <p:cNvSpPr>
            <a:spLocks noGrp="1"/>
          </p:cNvSpPr>
          <p:nvPr/>
        </p:nvSpPr>
        <p:spPr>
          <a:xfrm>
            <a:off x="8401050" y="3600450"/>
            <a:ext cx="31432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37" name="text-087">
            <a:extLst>
              <a:ext uri="{FF2B5EF4-FFF2-40B4-BE49-F238E27FC236}">
                <a16:creationId xmlns:a16="http://schemas.microsoft.com/office/drawing/2014/main" id="{5CD20B84-2044-4527-8ECC-0331B78E4EC4}"/>
              </a:ext>
            </a:extLst>
          </p:cNvPr>
          <p:cNvSpPr>
            <a:spLocks noGrp="1"/>
          </p:cNvSpPr>
          <p:nvPr/>
        </p:nvSpPr>
        <p:spPr>
          <a:xfrm>
            <a:off x="8401050" y="38576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依赖规则</a:t>
            </a:r>
          </a:p>
        </p:txBody>
      </p:sp>
      <p:sp>
        <p:nvSpPr>
          <p:cNvPr id="38" name="text-088">
            <a:extLst>
              <a:ext uri="{FF2B5EF4-FFF2-40B4-BE49-F238E27FC236}">
                <a16:creationId xmlns:a16="http://schemas.microsoft.com/office/drawing/2014/main" id="{9CC0C688-5927-4ACD-90BB-801BD2404DE3}"/>
              </a:ext>
            </a:extLst>
          </p:cNvPr>
          <p:cNvSpPr>
            <a:spLocks noGrp="1"/>
          </p:cNvSpPr>
          <p:nvPr/>
        </p:nvSpPr>
        <p:spPr>
          <a:xfrm>
            <a:off x="8401050" y="4362450"/>
            <a:ext cx="3143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页面只调用 services</a:t>
            </a:r>
          </a:p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路由只做校验与分发</a:t>
            </a:r>
          </a:p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应用层依赖接口</a:t>
            </a:r>
          </a:p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外部异常统一转换</a:t>
            </a:r>
          </a:p>
        </p:txBody>
      </p:sp>
    </p:spTree>
    <p:extLst>
      <p:ext uri="{BB962C8B-B14F-4D97-AF65-F5344CB8AC3E}">
        <p14:creationId xmlns:p14="http://schemas.microsoft.com/office/powerpoint/2010/main" val="682669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-089">
            <a:extLst>
              <a:ext uri="{FF2B5EF4-FFF2-40B4-BE49-F238E27FC236}">
                <a16:creationId xmlns:a16="http://schemas.microsoft.com/office/drawing/2014/main" id="{7640AD21-F20D-48F6-B6B8-EAB2341CC5A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设计模式</a:t>
            </a:r>
          </a:p>
        </p:txBody>
      </p:sp>
      <p:sp>
        <p:nvSpPr>
          <p:cNvPr id="2" name="text-090">
            <a:extLst>
              <a:ext uri="{FF2B5EF4-FFF2-40B4-BE49-F238E27FC236}">
                <a16:creationId xmlns:a16="http://schemas.microsoft.com/office/drawing/2014/main" id="{EAE404F9-2617-4251-9FE5-92D76E53DB86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基于接口的设计，把变化关在系统边界之外</a:t>
            </a:r>
          </a:p>
        </p:txBody>
      </p:sp>
      <p:sp>
        <p:nvSpPr>
          <p:cNvPr id="3" name="text-091">
            <a:extLst>
              <a:ext uri="{FF2B5EF4-FFF2-40B4-BE49-F238E27FC236}">
                <a16:creationId xmlns:a16="http://schemas.microsoft.com/office/drawing/2014/main" id="{8274EA87-8F48-4EA1-833F-27B27803ABC6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05 / 12</a:t>
            </a:r>
          </a:p>
        </p:txBody>
      </p:sp>
      <p:sp>
        <p:nvSpPr>
          <p:cNvPr id="4" name="text-092">
            <a:extLst>
              <a:ext uri="{FF2B5EF4-FFF2-40B4-BE49-F238E27FC236}">
                <a16:creationId xmlns:a16="http://schemas.microsoft.com/office/drawing/2014/main" id="{1E8BEBF8-5D73-4E56-B054-F7ED80242151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能力接口</a:t>
            </a:r>
          </a:p>
        </p:txBody>
      </p:sp>
      <p:sp>
        <p:nvSpPr>
          <p:cNvPr id="5" name="text-093">
            <a:extLst>
              <a:ext uri="{FF2B5EF4-FFF2-40B4-BE49-F238E27FC236}">
                <a16:creationId xmlns:a16="http://schemas.microsoft.com/office/drawing/2014/main" id="{4EC27104-22C2-4169-AC21-8D7DE2E781D8}"/>
              </a:ext>
            </a:extLst>
          </p:cNvPr>
          <p:cNvSpPr>
            <a:spLocks noGrp="1"/>
          </p:cNvSpPr>
          <p:nvPr/>
        </p:nvSpPr>
        <p:spPr>
          <a:xfrm>
            <a:off x="5619750" y="13525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可替换实现</a:t>
            </a:r>
          </a:p>
        </p:txBody>
      </p:sp>
      <p:sp>
        <p:nvSpPr>
          <p:cNvPr id="6" name="text-094">
            <a:extLst>
              <a:ext uri="{FF2B5EF4-FFF2-40B4-BE49-F238E27FC236}">
                <a16:creationId xmlns:a16="http://schemas.microsoft.com/office/drawing/2014/main" id="{18F6C37E-696D-4321-93B9-CBD01EFEB1AA}"/>
              </a:ext>
            </a:extLst>
          </p:cNvPr>
          <p:cNvSpPr>
            <a:spLocks noGrp="1"/>
          </p:cNvSpPr>
          <p:nvPr/>
        </p:nvSpPr>
        <p:spPr>
          <a:xfrm>
            <a:off x="9810750" y="13525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设计作用</a:t>
            </a:r>
          </a:p>
        </p:txBody>
      </p:sp>
      <p:sp>
        <p:nvSpPr>
          <p:cNvPr id="7" name="box-095">
            <a:extLst>
              <a:ext uri="{FF2B5EF4-FFF2-40B4-BE49-F238E27FC236}">
                <a16:creationId xmlns:a16="http://schemas.microsoft.com/office/drawing/2014/main" id="{C3F2DE59-D761-4DE6-9D5E-E2D04D653CC8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4095750" cy="742950"/>
          </a:xfrm>
          <a:prstGeom prst="roundRect">
            <a:avLst>
              <a:gd name="adj" fmla="val 7692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LLMGateway · Protocol</a:t>
            </a:r>
          </a:p>
        </p:txBody>
      </p:sp>
      <p:sp>
        <p:nvSpPr>
          <p:cNvPr id="8" name="box-096">
            <a:extLst>
              <a:ext uri="{FF2B5EF4-FFF2-40B4-BE49-F238E27FC236}">
                <a16:creationId xmlns:a16="http://schemas.microsoft.com/office/drawing/2014/main" id="{21DBA2D0-09BF-4D7A-B692-6C40D62B364B}"/>
              </a:ext>
            </a:extLst>
          </p:cNvPr>
          <p:cNvSpPr>
            <a:spLocks noGrp="1"/>
          </p:cNvSpPr>
          <p:nvPr/>
        </p:nvSpPr>
        <p:spPr>
          <a:xfrm>
            <a:off x="5429250" y="1790700"/>
            <a:ext cx="3981450" cy="74295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OpenAICompatibleLLM / 其他模型</a:t>
            </a:r>
          </a:p>
        </p:txBody>
      </p:sp>
      <p:cxnSp>
        <p:nvCxnSpPr>
          <p:cNvPr id="74" name="Straight Arrow Connector 31"/>
          <p:cNvCxnSpPr>
            <a:stCxn id="7" idx="3"/>
            <a:endCxn id="8" idx="1"/>
          </p:cNvCxnSpPr>
          <p:nvPr/>
        </p:nvCxnSpPr>
        <p:spPr>
          <a:xfrm>
            <a:off x="4495800" y="2162175"/>
            <a:ext cx="93345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0" name="text-097">
            <a:extLst>
              <a:ext uri="{FF2B5EF4-FFF2-40B4-BE49-F238E27FC236}">
                <a16:creationId xmlns:a16="http://schemas.microsoft.com/office/drawing/2014/main" id="{060E0EB5-7537-46CD-AECD-D76430FF2CC5}"/>
              </a:ext>
            </a:extLst>
          </p:cNvPr>
          <p:cNvSpPr>
            <a:spLocks noGrp="1"/>
          </p:cNvSpPr>
          <p:nvPr/>
        </p:nvSpPr>
        <p:spPr>
          <a:xfrm>
            <a:off x="9810750" y="19240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Adapter + DIP</a:t>
            </a:r>
          </a:p>
        </p:txBody>
      </p:sp>
      <p:sp>
        <p:nvSpPr>
          <p:cNvPr id="11" name="box-098">
            <a:extLst>
              <a:ext uri="{FF2B5EF4-FFF2-40B4-BE49-F238E27FC236}">
                <a16:creationId xmlns:a16="http://schemas.microsoft.com/office/drawing/2014/main" id="{C97A0786-E80A-44CE-8109-208F3CA6722E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4095750" cy="742950"/>
          </a:xfrm>
          <a:prstGeom prst="roundRect">
            <a:avLst>
              <a:gd name="adj" fmla="val 7692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EmbeddingProvider · Protocol</a:t>
            </a:r>
          </a:p>
        </p:txBody>
      </p:sp>
      <p:sp>
        <p:nvSpPr>
          <p:cNvPr id="12" name="box-099">
            <a:extLst>
              <a:ext uri="{FF2B5EF4-FFF2-40B4-BE49-F238E27FC236}">
                <a16:creationId xmlns:a16="http://schemas.microsoft.com/office/drawing/2014/main" id="{0200065B-2BAE-4F58-B93D-B5473C33C556}"/>
              </a:ext>
            </a:extLst>
          </p:cNvPr>
          <p:cNvSpPr>
            <a:spLocks noGrp="1"/>
          </p:cNvSpPr>
          <p:nvPr/>
        </p:nvSpPr>
        <p:spPr>
          <a:xfrm>
            <a:off x="5429250" y="2857500"/>
            <a:ext cx="3981450" cy="74295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OpenAI-compatible Embedding</a:t>
            </a:r>
          </a:p>
        </p:txBody>
      </p:sp>
      <p:cxnSp>
        <p:nvCxnSpPr>
          <p:cNvPr id="78" name="Straight Arrow Connector 35"/>
          <p:cNvCxnSpPr>
            <a:stCxn id="11" idx="3"/>
            <a:endCxn id="12" idx="1"/>
          </p:cNvCxnSpPr>
          <p:nvPr/>
        </p:nvCxnSpPr>
        <p:spPr>
          <a:xfrm>
            <a:off x="4495800" y="3228975"/>
            <a:ext cx="93345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4" name="text-100">
            <a:extLst>
              <a:ext uri="{FF2B5EF4-FFF2-40B4-BE49-F238E27FC236}">
                <a16:creationId xmlns:a16="http://schemas.microsoft.com/office/drawing/2014/main" id="{0405747E-48E5-476D-B4AA-E4E0E2E442CE}"/>
              </a:ext>
            </a:extLst>
          </p:cNvPr>
          <p:cNvSpPr>
            <a:spLocks noGrp="1"/>
          </p:cNvSpPr>
          <p:nvPr/>
        </p:nvSpPr>
        <p:spPr>
          <a:xfrm>
            <a:off x="9810750" y="29908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Adapter + DIP</a:t>
            </a:r>
          </a:p>
        </p:txBody>
      </p:sp>
      <p:sp>
        <p:nvSpPr>
          <p:cNvPr id="15" name="box-101">
            <a:extLst>
              <a:ext uri="{FF2B5EF4-FFF2-40B4-BE49-F238E27FC236}">
                <a16:creationId xmlns:a16="http://schemas.microsoft.com/office/drawing/2014/main" id="{26E9AAD2-516B-4B49-A785-F818A196A612}"/>
              </a:ext>
            </a:extLst>
          </p:cNvPr>
          <p:cNvSpPr>
            <a:spLocks noGrp="1"/>
          </p:cNvSpPr>
          <p:nvPr/>
        </p:nvSpPr>
        <p:spPr>
          <a:xfrm>
            <a:off x="400050" y="3924300"/>
            <a:ext cx="4095750" cy="742950"/>
          </a:xfrm>
          <a:prstGeom prst="roundRect">
            <a:avLst>
              <a:gd name="adj" fmla="val 7692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SearchService · Protocol</a:t>
            </a:r>
          </a:p>
        </p:txBody>
      </p:sp>
      <p:sp>
        <p:nvSpPr>
          <p:cNvPr id="16" name="box-102">
            <a:extLst>
              <a:ext uri="{FF2B5EF4-FFF2-40B4-BE49-F238E27FC236}">
                <a16:creationId xmlns:a16="http://schemas.microsoft.com/office/drawing/2014/main" id="{96997C90-FE0F-4EEE-A600-D8574E12BEB2}"/>
              </a:ext>
            </a:extLst>
          </p:cNvPr>
          <p:cNvSpPr>
            <a:spLocks noGrp="1"/>
          </p:cNvSpPr>
          <p:nvPr/>
        </p:nvSpPr>
        <p:spPr>
          <a:xfrm>
            <a:off x="5429250" y="3924300"/>
            <a:ext cx="3981450" cy="74295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关键词检索 / pgvector 语义检索</a:t>
            </a:r>
          </a:p>
        </p:txBody>
      </p:sp>
      <p:cxnSp>
        <p:nvCxnSpPr>
          <p:cNvPr id="82" name="Straight Arrow Connector 39"/>
          <p:cNvCxnSpPr>
            <a:stCxn id="15" idx="3"/>
            <a:endCxn id="16" idx="1"/>
          </p:cNvCxnSpPr>
          <p:nvPr/>
        </p:nvCxnSpPr>
        <p:spPr>
          <a:xfrm>
            <a:off x="4495800" y="4295775"/>
            <a:ext cx="93345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8" name="text-103">
            <a:extLst>
              <a:ext uri="{FF2B5EF4-FFF2-40B4-BE49-F238E27FC236}">
                <a16:creationId xmlns:a16="http://schemas.microsoft.com/office/drawing/2014/main" id="{356A01A4-B9E1-442E-BBD3-6EFCB49D1781}"/>
              </a:ext>
            </a:extLst>
          </p:cNvPr>
          <p:cNvSpPr>
            <a:spLocks noGrp="1"/>
          </p:cNvSpPr>
          <p:nvPr/>
        </p:nvSpPr>
        <p:spPr>
          <a:xfrm>
            <a:off x="9810750" y="40576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Strategy</a:t>
            </a:r>
          </a:p>
        </p:txBody>
      </p:sp>
      <p:sp>
        <p:nvSpPr>
          <p:cNvPr id="19" name="box-104">
            <a:extLst>
              <a:ext uri="{FF2B5EF4-FFF2-40B4-BE49-F238E27FC236}">
                <a16:creationId xmlns:a16="http://schemas.microsoft.com/office/drawing/2014/main" id="{67329274-EC78-4B5E-9F92-F03587ABEF59}"/>
              </a:ext>
            </a:extLst>
          </p:cNvPr>
          <p:cNvSpPr>
            <a:spLocks noGrp="1"/>
          </p:cNvSpPr>
          <p:nvPr/>
        </p:nvSpPr>
        <p:spPr>
          <a:xfrm>
            <a:off x="400050" y="4991100"/>
            <a:ext cx="4095750" cy="742950"/>
          </a:xfrm>
          <a:prstGeom prst="roundRect">
            <a:avLst>
              <a:gd name="adj" fmla="val 7692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createEndpoint({ mock, http })</a:t>
            </a:r>
          </a:p>
        </p:txBody>
      </p:sp>
      <p:sp>
        <p:nvSpPr>
          <p:cNvPr id="20" name="box-105">
            <a:extLst>
              <a:ext uri="{FF2B5EF4-FFF2-40B4-BE49-F238E27FC236}">
                <a16:creationId xmlns:a16="http://schemas.microsoft.com/office/drawing/2014/main" id="{B4754EC6-2319-4734-8E33-532FF091794B}"/>
              </a:ext>
            </a:extLst>
          </p:cNvPr>
          <p:cNvSpPr>
            <a:spLocks noGrp="1"/>
          </p:cNvSpPr>
          <p:nvPr/>
        </p:nvSpPr>
        <p:spPr>
          <a:xfrm>
            <a:off x="5429250" y="4991100"/>
            <a:ext cx="3981450" cy="74295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Mock 数据 / HTTP API</a:t>
            </a:r>
          </a:p>
        </p:txBody>
      </p:sp>
      <p:cxnSp>
        <p:nvCxnSpPr>
          <p:cNvPr id="86" name="Straight Arrow Connector 43"/>
          <p:cNvCxnSpPr>
            <a:stCxn id="19" idx="3"/>
            <a:endCxn id="20" idx="1"/>
          </p:cNvCxnSpPr>
          <p:nvPr/>
        </p:nvCxnSpPr>
        <p:spPr>
          <a:xfrm>
            <a:off x="4495800" y="5362575"/>
            <a:ext cx="93345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2" name="text-106">
            <a:extLst>
              <a:ext uri="{FF2B5EF4-FFF2-40B4-BE49-F238E27FC236}">
                <a16:creationId xmlns:a16="http://schemas.microsoft.com/office/drawing/2014/main" id="{05A8EABD-D23E-48FB-8BD4-35DA541D2440}"/>
              </a:ext>
            </a:extLst>
          </p:cNvPr>
          <p:cNvSpPr>
            <a:spLocks noGrp="1"/>
          </p:cNvSpPr>
          <p:nvPr/>
        </p:nvSpPr>
        <p:spPr>
          <a:xfrm>
            <a:off x="9810750" y="51244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Facade + Strategy</a:t>
            </a:r>
          </a:p>
        </p:txBody>
      </p:sp>
      <p:sp>
        <p:nvSpPr>
          <p:cNvPr id="23" name="text-107">
            <a:extLst>
              <a:ext uri="{FF2B5EF4-FFF2-40B4-BE49-F238E27FC236}">
                <a16:creationId xmlns:a16="http://schemas.microsoft.com/office/drawing/2014/main" id="{7CBA4F75-2ADA-4FA2-B9AE-4F95FB6C3F49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结果：模型、检索或传输方式变化时，页面与业务用例无需跟着重写。</a:t>
            </a:r>
          </a:p>
        </p:txBody>
      </p:sp>
    </p:spTree>
    <p:extLst>
      <p:ext uri="{BB962C8B-B14F-4D97-AF65-F5344CB8AC3E}">
        <p14:creationId xmlns:p14="http://schemas.microsoft.com/office/powerpoint/2010/main" val="83874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108">
            <a:extLst>
              <a:ext uri="{FF2B5EF4-FFF2-40B4-BE49-F238E27FC236}">
                <a16:creationId xmlns:a16="http://schemas.microsoft.com/office/drawing/2014/main" id="{508D42A1-148F-4591-B1F2-2FAE20C1C0B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关键技术</a:t>
            </a:r>
          </a:p>
        </p:txBody>
      </p:sp>
      <p:sp>
        <p:nvSpPr>
          <p:cNvPr id="2" name="text-109">
            <a:extLst>
              <a:ext uri="{FF2B5EF4-FFF2-40B4-BE49-F238E27FC236}">
                <a16:creationId xmlns:a16="http://schemas.microsoft.com/office/drawing/2014/main" id="{88C349D5-64F1-4BC9-9BB6-8137B04E083E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检索、模型与证据绑定成一个 RAG 闭环</a:t>
            </a:r>
          </a:p>
        </p:txBody>
      </p:sp>
      <p:sp>
        <p:nvSpPr>
          <p:cNvPr id="3" name="text-110">
            <a:extLst>
              <a:ext uri="{FF2B5EF4-FFF2-40B4-BE49-F238E27FC236}">
                <a16:creationId xmlns:a16="http://schemas.microsoft.com/office/drawing/2014/main" id="{96CD5C8E-900A-425D-987E-64919A8FF044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/ 12</a:t>
            </a:r>
          </a:p>
        </p:txBody>
      </p:sp>
      <p:sp>
        <p:nvSpPr>
          <p:cNvPr id="4" name="text-111">
            <a:extLst>
              <a:ext uri="{FF2B5EF4-FFF2-40B4-BE49-F238E27FC236}">
                <a16:creationId xmlns:a16="http://schemas.microsoft.com/office/drawing/2014/main" id="{22D421FF-4708-48A3-B255-C6D7F525D9A7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场景识别决定回答方式；混合召回提高覆盖；引用约束抑制无依据结论。</a:t>
            </a:r>
          </a:p>
        </p:txBody>
      </p:sp>
      <p:sp>
        <p:nvSpPr>
          <p:cNvPr id="5" name="box-112">
            <a:extLst>
              <a:ext uri="{FF2B5EF4-FFF2-40B4-BE49-F238E27FC236}">
                <a16:creationId xmlns:a16="http://schemas.microsoft.com/office/drawing/2014/main" id="{4AD5310C-9956-4D6A-BC29-8883A814BF14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1333500" cy="1066800"/>
          </a:xfrm>
          <a:prstGeom prst="roundRect">
            <a:avLst>
              <a:gd name="adj" fmla="val 6250"/>
            </a:avLst>
          </a:prstGeom>
          <a:solidFill>
            <a:srgbClr val="11111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用户问题</a:t>
            </a:r>
          </a:p>
        </p:txBody>
      </p:sp>
      <p:sp>
        <p:nvSpPr>
          <p:cNvPr id="6" name="box-113">
            <a:extLst>
              <a:ext uri="{FF2B5EF4-FFF2-40B4-BE49-F238E27FC236}">
                <a16:creationId xmlns:a16="http://schemas.microsoft.com/office/drawing/2014/main" id="{D9997CC0-203E-4397-9B87-B8C630419FDE}"/>
              </a:ext>
            </a:extLst>
          </p:cNvPr>
          <p:cNvSpPr>
            <a:spLocks noGrp="1"/>
          </p:cNvSpPr>
          <p:nvPr/>
        </p:nvSpPr>
        <p:spPr>
          <a:xfrm>
            <a:off x="2095500" y="2619375"/>
            <a:ext cx="1466850" cy="106680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场景识别</a:t>
            </a:r>
          </a:p>
          <a:p>
            <a:pPr algn="ctr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概念 / 对比 / 脉络</a:t>
            </a:r>
          </a:p>
        </p:txBody>
      </p:sp>
      <p:sp>
        <p:nvSpPr>
          <p:cNvPr id="7" name="box-114">
            <a:extLst>
              <a:ext uri="{FF2B5EF4-FFF2-40B4-BE49-F238E27FC236}">
                <a16:creationId xmlns:a16="http://schemas.microsoft.com/office/drawing/2014/main" id="{D01BE510-EE71-4BC1-9B6B-249A42D4F6BA}"/>
              </a:ext>
            </a:extLst>
          </p:cNvPr>
          <p:cNvSpPr>
            <a:spLocks noGrp="1"/>
          </p:cNvSpPr>
          <p:nvPr/>
        </p:nvSpPr>
        <p:spPr>
          <a:xfrm>
            <a:off x="4000500" y="1924050"/>
            <a:ext cx="1676400" cy="895350"/>
          </a:xfrm>
          <a:prstGeom prst="roundRect">
            <a:avLst>
              <a:gd name="adj" fmla="val 7447"/>
            </a:avLst>
          </a:prstGeom>
          <a:solidFill>
            <a:srgbClr val="EAF5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关键词召回</a:t>
            </a:r>
          </a:p>
          <a:p>
            <a:pPr algn="ctr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标题 · 正文 · 标签</a:t>
            </a:r>
          </a:p>
        </p:txBody>
      </p:sp>
      <p:sp>
        <p:nvSpPr>
          <p:cNvPr id="8" name="box-115">
            <a:extLst>
              <a:ext uri="{FF2B5EF4-FFF2-40B4-BE49-F238E27FC236}">
                <a16:creationId xmlns:a16="http://schemas.microsoft.com/office/drawing/2014/main" id="{71E1755E-D36E-44CD-883D-19B9C575EBFB}"/>
              </a:ext>
            </a:extLst>
          </p:cNvPr>
          <p:cNvSpPr>
            <a:spLocks noGrp="1"/>
          </p:cNvSpPr>
          <p:nvPr/>
        </p:nvSpPr>
        <p:spPr>
          <a:xfrm>
            <a:off x="4000500" y="3543300"/>
            <a:ext cx="1676400" cy="895350"/>
          </a:xfrm>
          <a:prstGeom prst="roundRect">
            <a:avLst>
              <a:gd name="adj" fmla="val 7447"/>
            </a:avLst>
          </a:prstGeom>
          <a:solidFill>
            <a:srgbClr val="EAF5F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向量召回</a:t>
            </a:r>
          </a:p>
          <a:p>
            <a:pPr algn="ctr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pgvector cosine</a:t>
            </a:r>
          </a:p>
        </p:txBody>
      </p:sp>
      <p:sp>
        <p:nvSpPr>
          <p:cNvPr id="9" name="box-116">
            <a:extLst>
              <a:ext uri="{FF2B5EF4-FFF2-40B4-BE49-F238E27FC236}">
                <a16:creationId xmlns:a16="http://schemas.microsoft.com/office/drawing/2014/main" id="{E2C5A8A2-8353-44ED-93C2-8CAD9E48D30C}"/>
              </a:ext>
            </a:extLst>
          </p:cNvPr>
          <p:cNvSpPr>
            <a:spLocks noGrp="1"/>
          </p:cNvSpPr>
          <p:nvPr/>
        </p:nvSpPr>
        <p:spPr>
          <a:xfrm>
            <a:off x="6191250" y="2619375"/>
            <a:ext cx="1562100" cy="1066800"/>
          </a:xfrm>
          <a:prstGeom prst="roundRect">
            <a:avLst>
              <a:gd name="adj" fmla="val 625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融合排序</a:t>
            </a:r>
          </a:p>
          <a:p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0.65 / 0.35</a:t>
            </a:r>
          </a:p>
        </p:txBody>
      </p:sp>
      <p:sp>
        <p:nvSpPr>
          <p:cNvPr id="10" name="box-117">
            <a:extLst>
              <a:ext uri="{FF2B5EF4-FFF2-40B4-BE49-F238E27FC236}">
                <a16:creationId xmlns:a16="http://schemas.microsoft.com/office/drawing/2014/main" id="{DA8EA2C8-7FD5-4E43-8C65-C952EF152339}"/>
              </a:ext>
            </a:extLst>
          </p:cNvPr>
          <p:cNvSpPr>
            <a:spLocks noGrp="1"/>
          </p:cNvSpPr>
          <p:nvPr/>
        </p:nvSpPr>
        <p:spPr>
          <a:xfrm>
            <a:off x="8172450" y="2619375"/>
            <a:ext cx="1466850" cy="106680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证据约束</a:t>
            </a:r>
          </a:p>
          <a:p>
            <a:pPr algn="ctr"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11" name="box-118">
            <a:extLst>
              <a:ext uri="{FF2B5EF4-FFF2-40B4-BE49-F238E27FC236}">
                <a16:creationId xmlns:a16="http://schemas.microsoft.com/office/drawing/2014/main" id="{90951FE5-FB32-4F7D-B6C1-6C96F6833531}"/>
              </a:ext>
            </a:extLst>
          </p:cNvPr>
          <p:cNvSpPr>
            <a:spLocks noGrp="1"/>
          </p:cNvSpPr>
          <p:nvPr/>
        </p:nvSpPr>
        <p:spPr>
          <a:xfrm>
            <a:off x="10039350" y="2619375"/>
            <a:ext cx="1752600" cy="1066800"/>
          </a:xfrm>
          <a:prstGeom prst="roundRect">
            <a:avLst>
              <a:gd name="adj" fmla="val 6250"/>
            </a:avLst>
          </a:prstGeom>
          <a:solidFill>
            <a:srgbClr val="111111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答案 + 来源</a:t>
            </a:r>
          </a:p>
          <a:p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paper_id · chunk_index</a:t>
            </a:r>
          </a:p>
        </p:txBody>
      </p:sp>
      <p:cxnSp>
        <p:nvCxnSpPr>
          <p:cNvPr id="72" name="Straight Arrow Connector 35"/>
          <p:cNvCxnSpPr>
            <a:stCxn id="5" idx="3"/>
            <a:endCxn id="6" idx="1"/>
          </p:cNvCxnSpPr>
          <p:nvPr/>
        </p:nvCxnSpPr>
        <p:spPr>
          <a:xfrm>
            <a:off x="1733550" y="3152775"/>
            <a:ext cx="36195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3" name="Elbow Connector 36"/>
          <p:cNvCxnSpPr>
            <a:stCxn id="6" idx="3"/>
            <a:endCxn id="7" idx="1"/>
          </p:cNvCxnSpPr>
          <p:nvPr/>
        </p:nvCxnSpPr>
        <p:spPr>
          <a:xfrm flipV="1">
            <a:off x="3562350" y="2371725"/>
            <a:ext cx="438150" cy="781050"/>
          </a:xfrm>
          <a:prstGeom prst="bentConnector3">
            <a:avLst>
              <a:gd name="adj1" fmla="val 50000"/>
            </a:avLst>
          </a:prstGeom>
          <a:ln w="19050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4" name="Elbow Connector 37"/>
          <p:cNvCxnSpPr>
            <a:stCxn id="6" idx="3"/>
            <a:endCxn id="8" idx="1"/>
          </p:cNvCxnSpPr>
          <p:nvPr/>
        </p:nvCxnSpPr>
        <p:spPr>
          <a:xfrm>
            <a:off x="3562350" y="3152775"/>
            <a:ext cx="438150" cy="838200"/>
          </a:xfrm>
          <a:prstGeom prst="bentConnector3">
            <a:avLst>
              <a:gd name="adj1" fmla="val 50000"/>
            </a:avLst>
          </a:prstGeom>
          <a:ln w="19050">
            <a:solidFill>
              <a:srgbClr val="B8BCC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5" name="Elbow Connector 38"/>
          <p:cNvCxnSpPr>
            <a:stCxn id="7" idx="3"/>
            <a:endCxn id="9" idx="1"/>
          </p:cNvCxnSpPr>
          <p:nvPr/>
        </p:nvCxnSpPr>
        <p:spPr>
          <a:xfrm>
            <a:off x="5676900" y="2371725"/>
            <a:ext cx="514350" cy="781050"/>
          </a:xfrm>
          <a:prstGeom prst="bentConnector3">
            <a:avLst>
              <a:gd name="adj1" fmla="val 50000"/>
            </a:avLst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6" name="Elbow Connector 39"/>
          <p:cNvCxnSpPr>
            <a:stCxn id="8" idx="3"/>
            <a:endCxn id="9" idx="1"/>
          </p:cNvCxnSpPr>
          <p:nvPr/>
        </p:nvCxnSpPr>
        <p:spPr>
          <a:xfrm flipV="1">
            <a:off x="5676900" y="3152775"/>
            <a:ext cx="514350" cy="838200"/>
          </a:xfrm>
          <a:prstGeom prst="bentConnector3">
            <a:avLst>
              <a:gd name="adj1" fmla="val 50000"/>
            </a:avLst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7" name="Straight Arrow Connector 40"/>
          <p:cNvCxnSpPr>
            <a:stCxn id="9" idx="3"/>
            <a:endCxn id="10" idx="1"/>
          </p:cNvCxnSpPr>
          <p:nvPr/>
        </p:nvCxnSpPr>
        <p:spPr>
          <a:xfrm>
            <a:off x="7753350" y="3152775"/>
            <a:ext cx="4191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8" name="Straight Arrow Connector 41"/>
          <p:cNvCxnSpPr>
            <a:stCxn id="10" idx="3"/>
            <a:endCxn id="11" idx="1"/>
          </p:cNvCxnSpPr>
          <p:nvPr/>
        </p:nvCxnSpPr>
        <p:spPr>
          <a:xfrm>
            <a:off x="9639300" y="3152775"/>
            <a:ext cx="40005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9" name="rule-119">
            <a:extLst>
              <a:ext uri="{FF2B5EF4-FFF2-40B4-BE49-F238E27FC236}">
                <a16:creationId xmlns:a16="http://schemas.microsoft.com/office/drawing/2014/main" id="{B8AC2A88-80C5-435E-9278-3DB368C8E53B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20" name="text-120">
            <a:extLst>
              <a:ext uri="{FF2B5EF4-FFF2-40B4-BE49-F238E27FC236}">
                <a16:creationId xmlns:a16="http://schemas.microsoft.com/office/drawing/2014/main" id="{BFC6DAAC-EE0D-4BDF-BEB9-F4FF44B28B84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向量不可用</a:t>
            </a:r>
          </a:p>
        </p:txBody>
      </p:sp>
      <p:sp>
        <p:nvSpPr>
          <p:cNvPr id="21" name="text-121">
            <a:extLst>
              <a:ext uri="{FF2B5EF4-FFF2-40B4-BE49-F238E27FC236}">
                <a16:creationId xmlns:a16="http://schemas.microsoft.com/office/drawing/2014/main" id="{36C39474-2922-4603-AE73-70F89ED339B5}"/>
              </a:ext>
            </a:extLst>
          </p:cNvPr>
          <p:cNvSpPr>
            <a:spLocks noGrp="1"/>
          </p:cNvSpPr>
          <p:nvPr/>
        </p:nvSpPr>
        <p:spPr>
          <a:xfrm>
            <a:off x="2000250" y="52197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自动退回关键词检索</a:t>
            </a:r>
          </a:p>
        </p:txBody>
      </p:sp>
      <p:sp>
        <p:nvSpPr>
          <p:cNvPr id="22" name="text-122">
            <a:extLst>
              <a:ext uri="{FF2B5EF4-FFF2-40B4-BE49-F238E27FC236}">
                <a16:creationId xmlns:a16="http://schemas.microsoft.com/office/drawing/2014/main" id="{E93B48A0-0ACD-44BE-A026-45C4E0E92F1F}"/>
              </a:ext>
            </a:extLst>
          </p:cNvPr>
          <p:cNvSpPr>
            <a:spLocks noGrp="1"/>
          </p:cNvSpPr>
          <p:nvPr/>
        </p:nvSpPr>
        <p:spPr>
          <a:xfrm>
            <a:off x="6191250" y="5219700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LLM 不可用</a:t>
            </a:r>
          </a:p>
        </p:txBody>
      </p:sp>
      <p:sp>
        <p:nvSpPr>
          <p:cNvPr id="23" name="text-123">
            <a:extLst>
              <a:ext uri="{FF2B5EF4-FFF2-40B4-BE49-F238E27FC236}">
                <a16:creationId xmlns:a16="http://schemas.microsoft.com/office/drawing/2014/main" id="{9081E243-CF62-45FD-BCB6-5640E4BAC23A}"/>
              </a:ext>
            </a:extLst>
          </p:cNvPr>
          <p:cNvSpPr>
            <a:spLocks noGrp="1"/>
          </p:cNvSpPr>
          <p:nvPr/>
        </p:nvSpPr>
        <p:spPr>
          <a:xfrm>
            <a:off x="7581900" y="52197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返回带引用的抽取式片段</a:t>
            </a:r>
          </a:p>
        </p:txBody>
      </p:sp>
      <p:sp>
        <p:nvSpPr>
          <p:cNvPr id="24" name="text-124">
            <a:extLst>
              <a:ext uri="{FF2B5EF4-FFF2-40B4-BE49-F238E27FC236}">
                <a16:creationId xmlns:a16="http://schemas.microsoft.com/office/drawing/2014/main" id="{DD1876E3-64E0-4CBB-B774-9F83CDD6CCE2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降级后仍保留“可验证”输出，而不是静默失败。</a:t>
            </a:r>
          </a:p>
        </p:txBody>
      </p:sp>
    </p:spTree>
    <p:extLst>
      <p:ext uri="{BB962C8B-B14F-4D97-AF65-F5344CB8AC3E}">
        <p14:creationId xmlns:p14="http://schemas.microsoft.com/office/powerpoint/2010/main" val="3066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125">
            <a:extLst>
              <a:ext uri="{FF2B5EF4-FFF2-40B4-BE49-F238E27FC236}">
                <a16:creationId xmlns:a16="http://schemas.microsoft.com/office/drawing/2014/main" id="{F96D8F7D-7F4E-43DD-9A0B-19B36F09BA0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可靠性</a:t>
            </a:r>
          </a:p>
        </p:txBody>
      </p:sp>
      <p:sp>
        <p:nvSpPr>
          <p:cNvPr id="2" name="text-126">
            <a:extLst>
              <a:ext uri="{FF2B5EF4-FFF2-40B4-BE49-F238E27FC236}">
                <a16:creationId xmlns:a16="http://schemas.microsoft.com/office/drawing/2014/main" id="{84E76BE9-66C5-4E35-B1A0-170CD6829FDC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耗时分析由可恢复状态机承接，不阻塞 Web 请求</a:t>
            </a:r>
          </a:p>
        </p:txBody>
      </p:sp>
      <p:sp>
        <p:nvSpPr>
          <p:cNvPr id="3" name="text-127">
            <a:extLst>
              <a:ext uri="{FF2B5EF4-FFF2-40B4-BE49-F238E27FC236}">
                <a16:creationId xmlns:a16="http://schemas.microsoft.com/office/drawing/2014/main" id="{76770668-AFC3-44D0-850F-4D3CA561DEF7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07 / 12</a:t>
            </a:r>
          </a:p>
        </p:txBody>
      </p:sp>
      <p:sp>
        <p:nvSpPr>
          <p:cNvPr id="4" name="text-128">
            <a:extLst>
              <a:ext uri="{FF2B5EF4-FFF2-40B4-BE49-F238E27FC236}">
                <a16:creationId xmlns:a16="http://schemas.microsoft.com/office/drawing/2014/main" id="{A274EFCE-114C-4627-ACEF-2013512C5E48}"/>
              </a:ext>
            </a:extLst>
          </p:cNvPr>
          <p:cNvSpPr>
            <a:spLocks noGrp="1"/>
          </p:cNvSpPr>
          <p:nvPr/>
        </p:nvSpPr>
        <p:spPr>
          <a:xfrm>
            <a:off x="10401300" y="1066800"/>
            <a:ext cx="838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33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text-129">
            <a:extLst>
              <a:ext uri="{FF2B5EF4-FFF2-40B4-BE49-F238E27FC236}">
                <a16:creationId xmlns:a16="http://schemas.microsoft.com/office/drawing/2014/main" id="{9852CA91-06AD-409C-8573-DB9034989F28}"/>
              </a:ext>
            </a:extLst>
          </p:cNvPr>
          <p:cNvSpPr>
            <a:spLocks noGrp="1"/>
          </p:cNvSpPr>
          <p:nvPr/>
        </p:nvSpPr>
        <p:spPr>
          <a:xfrm>
            <a:off x="9696450" y="15621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种持久化状态</a:t>
            </a:r>
          </a:p>
        </p:txBody>
      </p:sp>
      <p:sp>
        <p:nvSpPr>
          <p:cNvPr id="6" name="box-130">
            <a:extLst>
              <a:ext uri="{FF2B5EF4-FFF2-40B4-BE49-F238E27FC236}">
                <a16:creationId xmlns:a16="http://schemas.microsoft.com/office/drawing/2014/main" id="{9403E832-F539-4777-9AD5-E890586152D1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1257300" cy="781050"/>
          </a:xfrm>
          <a:prstGeom prst="roundRect">
            <a:avLst>
              <a:gd name="adj" fmla="val 6098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queued</a:t>
            </a:r>
          </a:p>
        </p:txBody>
      </p:sp>
      <p:sp>
        <p:nvSpPr>
          <p:cNvPr id="7" name="box-131">
            <a:extLst>
              <a:ext uri="{FF2B5EF4-FFF2-40B4-BE49-F238E27FC236}">
                <a16:creationId xmlns:a16="http://schemas.microsoft.com/office/drawing/2014/main" id="{2AD16EAF-8400-41F3-8801-437C9738293F}"/>
              </a:ext>
            </a:extLst>
          </p:cNvPr>
          <p:cNvSpPr>
            <a:spLocks noGrp="1"/>
          </p:cNvSpPr>
          <p:nvPr/>
        </p:nvSpPr>
        <p:spPr>
          <a:xfrm>
            <a:off x="1828800" y="2400300"/>
            <a:ext cx="1257300" cy="781050"/>
          </a:xfrm>
          <a:prstGeom prst="roundRect">
            <a:avLst>
              <a:gd name="adj" fmla="val 6098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downloading</a:t>
            </a:r>
          </a:p>
        </p:txBody>
      </p:sp>
      <p:sp>
        <p:nvSpPr>
          <p:cNvPr id="8" name="box-132">
            <a:extLst>
              <a:ext uri="{FF2B5EF4-FFF2-40B4-BE49-F238E27FC236}">
                <a16:creationId xmlns:a16="http://schemas.microsoft.com/office/drawing/2014/main" id="{9A221CBF-F4CB-40B1-865C-D94A7787C617}"/>
              </a:ext>
            </a:extLst>
          </p:cNvPr>
          <p:cNvSpPr>
            <a:spLocks noGrp="1"/>
          </p:cNvSpPr>
          <p:nvPr/>
        </p:nvSpPr>
        <p:spPr>
          <a:xfrm>
            <a:off x="3257550" y="2400300"/>
            <a:ext cx="1257300" cy="781050"/>
          </a:xfrm>
          <a:prstGeom prst="roundRect">
            <a:avLst>
              <a:gd name="adj" fmla="val 6098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parsing</a:t>
            </a:r>
          </a:p>
        </p:txBody>
      </p:sp>
      <p:sp>
        <p:nvSpPr>
          <p:cNvPr id="9" name="box-133">
            <a:extLst>
              <a:ext uri="{FF2B5EF4-FFF2-40B4-BE49-F238E27FC236}">
                <a16:creationId xmlns:a16="http://schemas.microsoft.com/office/drawing/2014/main" id="{C28E6A91-409C-48D6-83F8-944BC72A9AF4}"/>
              </a:ext>
            </a:extLst>
          </p:cNvPr>
          <p:cNvSpPr>
            <a:spLocks noGrp="1"/>
          </p:cNvSpPr>
          <p:nvPr/>
        </p:nvSpPr>
        <p:spPr>
          <a:xfrm>
            <a:off x="4686300" y="2400300"/>
            <a:ext cx="1257300" cy="781050"/>
          </a:xfrm>
          <a:prstGeom prst="roundRect">
            <a:avLst>
              <a:gd name="adj" fmla="val 6098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chunking</a:t>
            </a:r>
          </a:p>
        </p:txBody>
      </p:sp>
      <p:sp>
        <p:nvSpPr>
          <p:cNvPr id="10" name="box-134">
            <a:extLst>
              <a:ext uri="{FF2B5EF4-FFF2-40B4-BE49-F238E27FC236}">
                <a16:creationId xmlns:a16="http://schemas.microsoft.com/office/drawing/2014/main" id="{40596575-DFAE-4572-B34D-36965A3669C1}"/>
              </a:ext>
            </a:extLst>
          </p:cNvPr>
          <p:cNvSpPr>
            <a:spLocks noGrp="1"/>
          </p:cNvSpPr>
          <p:nvPr/>
        </p:nvSpPr>
        <p:spPr>
          <a:xfrm>
            <a:off x="6115050" y="2400300"/>
            <a:ext cx="1257300" cy="781050"/>
          </a:xfrm>
          <a:prstGeom prst="roundRect">
            <a:avLst>
              <a:gd name="adj" fmla="val 6098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extracting</a:t>
            </a:r>
          </a:p>
        </p:txBody>
      </p:sp>
      <p:sp>
        <p:nvSpPr>
          <p:cNvPr id="11" name="box-135">
            <a:extLst>
              <a:ext uri="{FF2B5EF4-FFF2-40B4-BE49-F238E27FC236}">
                <a16:creationId xmlns:a16="http://schemas.microsoft.com/office/drawing/2014/main" id="{3017001B-6151-4D39-9F0A-EE4EB69A868A}"/>
              </a:ext>
            </a:extLst>
          </p:cNvPr>
          <p:cNvSpPr>
            <a:spLocks noGrp="1"/>
          </p:cNvSpPr>
          <p:nvPr/>
        </p:nvSpPr>
        <p:spPr>
          <a:xfrm>
            <a:off x="7543800" y="2400300"/>
            <a:ext cx="1257300" cy="781050"/>
          </a:xfrm>
          <a:prstGeom prst="roundRect">
            <a:avLst>
              <a:gd name="adj" fmla="val 6098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2" name="box-136">
            <a:extLst>
              <a:ext uri="{FF2B5EF4-FFF2-40B4-BE49-F238E27FC236}">
                <a16:creationId xmlns:a16="http://schemas.microsoft.com/office/drawing/2014/main" id="{E51511FF-6D25-48D9-A239-1C7B28A63327}"/>
              </a:ext>
            </a:extLst>
          </p:cNvPr>
          <p:cNvSpPr>
            <a:spLocks noGrp="1"/>
          </p:cNvSpPr>
          <p:nvPr/>
        </p:nvSpPr>
        <p:spPr>
          <a:xfrm>
            <a:off x="8972550" y="2400300"/>
            <a:ext cx="1257300" cy="781050"/>
          </a:xfrm>
          <a:prstGeom prst="roundRect">
            <a:avLst>
              <a:gd name="adj" fmla="val 6098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persisting</a:t>
            </a:r>
          </a:p>
        </p:txBody>
      </p:sp>
      <p:sp>
        <p:nvSpPr>
          <p:cNvPr id="13" name="box-137">
            <a:extLst>
              <a:ext uri="{FF2B5EF4-FFF2-40B4-BE49-F238E27FC236}">
                <a16:creationId xmlns:a16="http://schemas.microsoft.com/office/drawing/2014/main" id="{2770A996-2E65-4D74-9B15-244D1F792937}"/>
              </a:ext>
            </a:extLst>
          </p:cNvPr>
          <p:cNvSpPr>
            <a:spLocks noGrp="1"/>
          </p:cNvSpPr>
          <p:nvPr/>
        </p:nvSpPr>
        <p:spPr>
          <a:xfrm>
            <a:off x="10401300" y="2400300"/>
            <a:ext cx="1257300" cy="781050"/>
          </a:xfrm>
          <a:prstGeom prst="roundRect">
            <a:avLst>
              <a:gd name="adj" fmla="val 6098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completed</a:t>
            </a:r>
          </a:p>
        </p:txBody>
      </p:sp>
      <p:cxnSp>
        <p:nvCxnSpPr>
          <p:cNvPr id="104" name="Straight Arrow Connector 49"/>
          <p:cNvCxnSpPr>
            <a:stCxn id="6" idx="3"/>
            <a:endCxn id="7" idx="1"/>
          </p:cNvCxnSpPr>
          <p:nvPr/>
        </p:nvCxnSpPr>
        <p:spPr>
          <a:xfrm>
            <a:off x="1657350" y="2790825"/>
            <a:ext cx="171450" cy="0"/>
          </a:xfrm>
          <a:prstGeom prst="straightConnector1">
            <a:avLst/>
          </a:prstGeom>
          <a:ln w="14288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5" name="Straight Arrow Connector 50"/>
          <p:cNvCxnSpPr>
            <a:stCxn id="7" idx="3"/>
            <a:endCxn id="8" idx="1"/>
          </p:cNvCxnSpPr>
          <p:nvPr/>
        </p:nvCxnSpPr>
        <p:spPr>
          <a:xfrm>
            <a:off x="3086100" y="2790825"/>
            <a:ext cx="171450" cy="0"/>
          </a:xfrm>
          <a:prstGeom prst="straightConnector1">
            <a:avLst/>
          </a:prstGeom>
          <a:ln w="14288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6" name="Straight Arrow Connector 51"/>
          <p:cNvCxnSpPr>
            <a:stCxn id="8" idx="3"/>
            <a:endCxn id="9" idx="1"/>
          </p:cNvCxnSpPr>
          <p:nvPr/>
        </p:nvCxnSpPr>
        <p:spPr>
          <a:xfrm>
            <a:off x="4514850" y="2790825"/>
            <a:ext cx="171450" cy="0"/>
          </a:xfrm>
          <a:prstGeom prst="straightConnector1">
            <a:avLst/>
          </a:prstGeom>
          <a:ln w="14288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7" name="Straight Arrow Connector 52"/>
          <p:cNvCxnSpPr>
            <a:stCxn id="9" idx="3"/>
            <a:endCxn id="10" idx="1"/>
          </p:cNvCxnSpPr>
          <p:nvPr/>
        </p:nvCxnSpPr>
        <p:spPr>
          <a:xfrm>
            <a:off x="5943600" y="2790825"/>
            <a:ext cx="171450" cy="0"/>
          </a:xfrm>
          <a:prstGeom prst="straightConnector1">
            <a:avLst/>
          </a:prstGeom>
          <a:ln w="14288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8" name="Straight Arrow Connector 53"/>
          <p:cNvCxnSpPr>
            <a:stCxn id="10" idx="3"/>
            <a:endCxn id="11" idx="1"/>
          </p:cNvCxnSpPr>
          <p:nvPr/>
        </p:nvCxnSpPr>
        <p:spPr>
          <a:xfrm>
            <a:off x="7372350" y="2790825"/>
            <a:ext cx="171450" cy="0"/>
          </a:xfrm>
          <a:prstGeom prst="straightConnector1">
            <a:avLst/>
          </a:prstGeom>
          <a:ln w="14288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9" name="Straight Arrow Connector 54"/>
          <p:cNvCxnSpPr>
            <a:stCxn id="11" idx="3"/>
            <a:endCxn id="12" idx="1"/>
          </p:cNvCxnSpPr>
          <p:nvPr/>
        </p:nvCxnSpPr>
        <p:spPr>
          <a:xfrm>
            <a:off x="8801100" y="2790825"/>
            <a:ext cx="171450" cy="0"/>
          </a:xfrm>
          <a:prstGeom prst="straightConnector1">
            <a:avLst/>
          </a:prstGeom>
          <a:ln w="14288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0" name="Straight Arrow Connector 55"/>
          <p:cNvCxnSpPr>
            <a:stCxn id="12" idx="3"/>
            <a:endCxn id="13" idx="1"/>
          </p:cNvCxnSpPr>
          <p:nvPr/>
        </p:nvCxnSpPr>
        <p:spPr>
          <a:xfrm>
            <a:off x="10229850" y="2790825"/>
            <a:ext cx="171450" cy="0"/>
          </a:xfrm>
          <a:prstGeom prst="straightConnector1">
            <a:avLst/>
          </a:prstGeom>
          <a:ln w="14288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1" name="box-138">
            <a:extLst>
              <a:ext uri="{FF2B5EF4-FFF2-40B4-BE49-F238E27FC236}">
                <a16:creationId xmlns:a16="http://schemas.microsoft.com/office/drawing/2014/main" id="{83B904A0-18F9-42E3-ABC4-E084F11E52BF}"/>
              </a:ext>
            </a:extLst>
          </p:cNvPr>
          <p:cNvSpPr>
            <a:spLocks noGrp="1"/>
          </p:cNvSpPr>
          <p:nvPr/>
        </p:nvSpPr>
        <p:spPr>
          <a:xfrm>
            <a:off x="4000500" y="3733800"/>
            <a:ext cx="1714500" cy="685800"/>
          </a:xfrm>
          <a:prstGeom prst="roundRect">
            <a:avLst>
              <a:gd name="adj" fmla="val 6944"/>
            </a:avLst>
          </a:prstGeom>
          <a:solidFill>
            <a:srgbClr val="EAF5FB"/>
          </a:solidFill>
          <a:ln w="19050">
            <a:solidFill>
              <a:srgbClr val="3D8DFF"/>
            </a:solidFill>
            <a:prstDash val="dash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retry_wait</a:t>
            </a:r>
          </a:p>
          <a:p>
            <a:pPr algn="ctr">
              <a:buNone/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指数退避</a:t>
            </a:r>
          </a:p>
        </p:txBody>
      </p:sp>
      <p:sp>
        <p:nvSpPr>
          <p:cNvPr id="22" name="box-139">
            <a:extLst>
              <a:ext uri="{FF2B5EF4-FFF2-40B4-BE49-F238E27FC236}">
                <a16:creationId xmlns:a16="http://schemas.microsoft.com/office/drawing/2014/main" id="{C6F7F761-6E40-4297-9CF9-833029BFABDA}"/>
              </a:ext>
            </a:extLst>
          </p:cNvPr>
          <p:cNvSpPr>
            <a:spLocks noGrp="1"/>
          </p:cNvSpPr>
          <p:nvPr/>
        </p:nvSpPr>
        <p:spPr>
          <a:xfrm>
            <a:off x="6667500" y="3733800"/>
            <a:ext cx="1409700" cy="685800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failed</a:t>
            </a:r>
          </a:p>
        </p:txBody>
      </p:sp>
      <p:sp>
        <p:nvSpPr>
          <p:cNvPr id="23" name="box-140">
            <a:extLst>
              <a:ext uri="{FF2B5EF4-FFF2-40B4-BE49-F238E27FC236}">
                <a16:creationId xmlns:a16="http://schemas.microsoft.com/office/drawing/2014/main" id="{08147F90-B2CB-488D-9374-DF5C64A3D04A}"/>
              </a:ext>
            </a:extLst>
          </p:cNvPr>
          <p:cNvSpPr>
            <a:spLocks noGrp="1"/>
          </p:cNvSpPr>
          <p:nvPr/>
        </p:nvSpPr>
        <p:spPr>
          <a:xfrm>
            <a:off x="8420100" y="3733800"/>
            <a:ext cx="1409700" cy="685800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cancelled</a:t>
            </a:r>
          </a:p>
        </p:txBody>
      </p:sp>
      <p:cxnSp>
        <p:nvCxnSpPr>
          <p:cNvPr id="114" name="Elbow Connector 59"/>
          <p:cNvCxnSpPr>
            <a:stCxn id="10" idx="2"/>
            <a:endCxn id="21" idx="0"/>
          </p:cNvCxnSpPr>
          <p:nvPr/>
        </p:nvCxnSpPr>
        <p:spPr>
          <a:xfrm flipH="1">
            <a:off x="4857750" y="3181350"/>
            <a:ext cx="1885950" cy="552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3D8DFF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15" name="Elbow Connector 60"/>
          <p:cNvCxnSpPr>
            <a:stCxn id="21" idx="1"/>
            <a:endCxn id="7" idx="2"/>
          </p:cNvCxnSpPr>
          <p:nvPr/>
        </p:nvCxnSpPr>
        <p:spPr>
          <a:xfrm flipH="1" flipV="1">
            <a:off x="2457450" y="3181350"/>
            <a:ext cx="1543050" cy="895350"/>
          </a:xfrm>
          <a:prstGeom prst="bentConnector2">
            <a:avLst/>
          </a:prstGeom>
          <a:ln w="19050">
            <a:solidFill>
              <a:srgbClr val="3D8DFF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16" name="Elbow Connector 61"/>
          <p:cNvCxnSpPr>
            <a:stCxn id="10" idx="2"/>
            <a:endCxn id="22" idx="0"/>
          </p:cNvCxnSpPr>
          <p:nvPr/>
        </p:nvCxnSpPr>
        <p:spPr>
          <a:xfrm>
            <a:off x="6743700" y="3181350"/>
            <a:ext cx="628650" cy="552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CC4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17" name="Elbow Connector 62"/>
          <p:cNvCxnSpPr>
            <a:stCxn id="10" idx="2"/>
            <a:endCxn id="23" idx="0"/>
          </p:cNvCxnSpPr>
          <p:nvPr/>
        </p:nvCxnSpPr>
        <p:spPr>
          <a:xfrm>
            <a:off x="6743700" y="3181350"/>
            <a:ext cx="2381250" cy="552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CC4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28" name="rule-141">
            <a:extLst>
              <a:ext uri="{FF2B5EF4-FFF2-40B4-BE49-F238E27FC236}">
                <a16:creationId xmlns:a16="http://schemas.microsoft.com/office/drawing/2014/main" id="{9A34E703-4E87-488C-8014-90F328FF22A0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29" name="text-142">
            <a:extLst>
              <a:ext uri="{FF2B5EF4-FFF2-40B4-BE49-F238E27FC236}">
                <a16:creationId xmlns:a16="http://schemas.microsoft.com/office/drawing/2014/main" id="{CEEA6DCE-EC26-431C-8F1D-699BB13BA5FA}"/>
              </a:ext>
            </a:extLst>
          </p:cNvPr>
          <p:cNvSpPr>
            <a:spLocks noGrp="1"/>
          </p:cNvSpPr>
          <p:nvPr/>
        </p:nvSpPr>
        <p:spPr>
          <a:xfrm>
            <a:off x="400050" y="51625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队列隔离</a:t>
            </a:r>
          </a:p>
        </p:txBody>
      </p:sp>
      <p:sp>
        <p:nvSpPr>
          <p:cNvPr id="30" name="text-143">
            <a:extLst>
              <a:ext uri="{FF2B5EF4-FFF2-40B4-BE49-F238E27FC236}">
                <a16:creationId xmlns:a16="http://schemas.microsoft.com/office/drawing/2014/main" id="{ABF88523-B80D-42D8-99B8-EA6CEE46915B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analysis 与 arXiv 独立 Worker</a:t>
            </a:r>
          </a:p>
        </p:txBody>
      </p:sp>
      <p:sp>
        <p:nvSpPr>
          <p:cNvPr id="31" name="text-144">
            <a:extLst>
              <a:ext uri="{FF2B5EF4-FFF2-40B4-BE49-F238E27FC236}">
                <a16:creationId xmlns:a16="http://schemas.microsoft.com/office/drawing/2014/main" id="{908E922D-FFED-4B4A-95A5-3DFD49A840DF}"/>
              </a:ext>
            </a:extLst>
          </p:cNvPr>
          <p:cNvSpPr>
            <a:spLocks noGrp="1"/>
          </p:cNvSpPr>
          <p:nvPr/>
        </p:nvSpPr>
        <p:spPr>
          <a:xfrm>
            <a:off x="3257550" y="51625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持久化状态</a:t>
            </a:r>
          </a:p>
        </p:txBody>
      </p:sp>
      <p:sp>
        <p:nvSpPr>
          <p:cNvPr id="32" name="text-145">
            <a:extLst>
              <a:ext uri="{FF2B5EF4-FFF2-40B4-BE49-F238E27FC236}">
                <a16:creationId xmlns:a16="http://schemas.microsoft.com/office/drawing/2014/main" id="{9D776095-8A91-430F-826C-A3A78673A115}"/>
              </a:ext>
            </a:extLst>
          </p:cNvPr>
          <p:cNvSpPr>
            <a:spLocks noGrp="1"/>
          </p:cNvSpPr>
          <p:nvPr/>
        </p:nvSpPr>
        <p:spPr>
          <a:xfrm>
            <a:off x="3257550" y="55626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任务重启后仍可恢复</a:t>
            </a:r>
          </a:p>
        </p:txBody>
      </p:sp>
      <p:sp>
        <p:nvSpPr>
          <p:cNvPr id="33" name="text-146">
            <a:extLst>
              <a:ext uri="{FF2B5EF4-FFF2-40B4-BE49-F238E27FC236}">
                <a16:creationId xmlns:a16="http://schemas.microsoft.com/office/drawing/2014/main" id="{0F6FC611-7C9E-4C68-93C0-5DFC6AB2FD9F}"/>
              </a:ext>
            </a:extLst>
          </p:cNvPr>
          <p:cNvSpPr>
            <a:spLocks noGrp="1"/>
          </p:cNvSpPr>
          <p:nvPr/>
        </p:nvSpPr>
        <p:spPr>
          <a:xfrm>
            <a:off x="6115050" y="51625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原子发布</a:t>
            </a:r>
          </a:p>
        </p:txBody>
      </p:sp>
      <p:sp>
        <p:nvSpPr>
          <p:cNvPr id="34" name="text-147">
            <a:extLst>
              <a:ext uri="{FF2B5EF4-FFF2-40B4-BE49-F238E27FC236}">
                <a16:creationId xmlns:a16="http://schemas.microsoft.com/office/drawing/2014/main" id="{9C587B71-915E-4F12-A147-8D117441EF32}"/>
              </a:ext>
            </a:extLst>
          </p:cNvPr>
          <p:cNvSpPr>
            <a:spLocks noGrp="1"/>
          </p:cNvSpPr>
          <p:nvPr/>
        </p:nvSpPr>
        <p:spPr>
          <a:xfrm>
            <a:off x="6115050" y="55626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active_run 切换后新结果才可见</a:t>
            </a:r>
          </a:p>
        </p:txBody>
      </p:sp>
      <p:sp>
        <p:nvSpPr>
          <p:cNvPr id="35" name="text-148">
            <a:extLst>
              <a:ext uri="{FF2B5EF4-FFF2-40B4-BE49-F238E27FC236}">
                <a16:creationId xmlns:a16="http://schemas.microsoft.com/office/drawing/2014/main" id="{B5576F37-5EEB-4814-9D17-E7CBFD337FE3}"/>
              </a:ext>
            </a:extLst>
          </p:cNvPr>
          <p:cNvSpPr>
            <a:spLocks noGrp="1"/>
          </p:cNvSpPr>
          <p:nvPr/>
        </p:nvSpPr>
        <p:spPr>
          <a:xfrm>
            <a:off x="8972550" y="51625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错误分类</a:t>
            </a:r>
          </a:p>
        </p:txBody>
      </p:sp>
      <p:sp>
        <p:nvSpPr>
          <p:cNvPr id="36" name="text-149">
            <a:extLst>
              <a:ext uri="{FF2B5EF4-FFF2-40B4-BE49-F238E27FC236}">
                <a16:creationId xmlns:a16="http://schemas.microsoft.com/office/drawing/2014/main" id="{D728DE66-8A23-48E7-822C-59F660DF7D48}"/>
              </a:ext>
            </a:extLst>
          </p:cNvPr>
          <p:cNvSpPr>
            <a:spLocks noGrp="1"/>
          </p:cNvSpPr>
          <p:nvPr/>
        </p:nvSpPr>
        <p:spPr>
          <a:xfrm>
            <a:off x="8972550" y="55626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仅瞬时故障重试，最大 900s</a:t>
            </a:r>
          </a:p>
        </p:txBody>
      </p:sp>
    </p:spTree>
    <p:extLst>
      <p:ext uri="{BB962C8B-B14F-4D97-AF65-F5344CB8AC3E}">
        <p14:creationId xmlns:p14="http://schemas.microsoft.com/office/powerpoint/2010/main" val="194341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150">
            <a:extLst>
              <a:ext uri="{FF2B5EF4-FFF2-40B4-BE49-F238E27FC236}">
                <a16:creationId xmlns:a16="http://schemas.microsoft.com/office/drawing/2014/main" id="{CBFC2BAA-ED5B-45DF-9EC2-C16874BA892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测试与质量</a:t>
            </a:r>
          </a:p>
        </p:txBody>
      </p:sp>
      <p:sp>
        <p:nvSpPr>
          <p:cNvPr id="2" name="text-151">
            <a:extLst>
              <a:ext uri="{FF2B5EF4-FFF2-40B4-BE49-F238E27FC236}">
                <a16:creationId xmlns:a16="http://schemas.microsoft.com/office/drawing/2014/main" id="{3DDA9F9D-7A86-41A1-97F3-2F0F205167B8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质量保证覆盖代码、接口、流水线与交付</a:t>
            </a:r>
          </a:p>
        </p:txBody>
      </p:sp>
      <p:sp>
        <p:nvSpPr>
          <p:cNvPr id="3" name="text-152">
            <a:extLst>
              <a:ext uri="{FF2B5EF4-FFF2-40B4-BE49-F238E27FC236}">
                <a16:creationId xmlns:a16="http://schemas.microsoft.com/office/drawing/2014/main" id="{38B45D8C-EBE7-4F1D-889F-D92606F69C7E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08 / 12</a:t>
            </a:r>
          </a:p>
        </p:txBody>
      </p:sp>
      <p:sp>
        <p:nvSpPr>
          <p:cNvPr id="4" name="box-153">
            <a:extLst>
              <a:ext uri="{FF2B5EF4-FFF2-40B4-BE49-F238E27FC236}">
                <a16:creationId xmlns:a16="http://schemas.microsoft.com/office/drawing/2014/main" id="{FF007431-3EC0-4D88-B282-393F27AD9FCD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3486150" cy="2247900"/>
          </a:xfrm>
          <a:prstGeom prst="roundRect">
            <a:avLst>
              <a:gd name="adj" fmla="val 3390"/>
            </a:avLst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5" name="text-154">
            <a:extLst>
              <a:ext uri="{FF2B5EF4-FFF2-40B4-BE49-F238E27FC236}">
                <a16:creationId xmlns:a16="http://schemas.microsoft.com/office/drawing/2014/main" id="{B71E4B56-4660-40F1-9182-01CF8CAF6572}"/>
              </a:ext>
            </a:extLst>
          </p:cNvPr>
          <p:cNvSpPr>
            <a:spLocks noGrp="1"/>
          </p:cNvSpPr>
          <p:nvPr/>
        </p:nvSpPr>
        <p:spPr>
          <a:xfrm>
            <a:off x="628650" y="1866900"/>
            <a:ext cx="2952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185</a:t>
            </a:r>
          </a:p>
        </p:txBody>
      </p:sp>
      <p:sp>
        <p:nvSpPr>
          <p:cNvPr id="6" name="text-155">
            <a:extLst>
              <a:ext uri="{FF2B5EF4-FFF2-40B4-BE49-F238E27FC236}">
                <a16:creationId xmlns:a16="http://schemas.microsoft.com/office/drawing/2014/main" id="{B192AE35-B608-42AB-A8E4-59C2A1E5CD5C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后端测试通过</a:t>
            </a:r>
          </a:p>
        </p:txBody>
      </p:sp>
      <p:sp>
        <p:nvSpPr>
          <p:cNvPr id="7" name="text-156">
            <a:extLst>
              <a:ext uri="{FF2B5EF4-FFF2-40B4-BE49-F238E27FC236}">
                <a16:creationId xmlns:a16="http://schemas.microsoft.com/office/drawing/2014/main" id="{81A3EE2B-052F-423D-AD05-61B6DAAC3298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D8DC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8DCE2"/>
                </a:solidFill>
                <a:latin typeface="Helvetica Neue"/>
                <a:ea typeface="Helvetica Neue"/>
                <a:cs typeface="Helvetica Neue"/>
              </a:rPr>
              <a:t>1 skipped · 1.79s</a:t>
            </a:r>
          </a:p>
        </p:txBody>
      </p:sp>
      <p:sp>
        <p:nvSpPr>
          <p:cNvPr id="8" name="box-157">
            <a:extLst>
              <a:ext uri="{FF2B5EF4-FFF2-40B4-BE49-F238E27FC236}">
                <a16:creationId xmlns:a16="http://schemas.microsoft.com/office/drawing/2014/main" id="{92E96F5C-C578-4273-9D85-D8B6C05EE116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486150" cy="2247900"/>
          </a:xfrm>
          <a:prstGeom prst="roundRect">
            <a:avLst>
              <a:gd name="adj" fmla="val 3390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9" name="text-158">
            <a:extLst>
              <a:ext uri="{FF2B5EF4-FFF2-40B4-BE49-F238E27FC236}">
                <a16:creationId xmlns:a16="http://schemas.microsoft.com/office/drawing/2014/main" id="{7DB76177-99D4-43F9-80D7-805059BCBD04}"/>
              </a:ext>
            </a:extLst>
          </p:cNvPr>
          <p:cNvSpPr>
            <a:spLocks noGrp="1"/>
          </p:cNvSpPr>
          <p:nvPr/>
        </p:nvSpPr>
        <p:spPr>
          <a:xfrm>
            <a:off x="4514850" y="1866900"/>
            <a:ext cx="2952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10" name="text-159">
            <a:extLst>
              <a:ext uri="{FF2B5EF4-FFF2-40B4-BE49-F238E27FC236}">
                <a16:creationId xmlns:a16="http://schemas.microsoft.com/office/drawing/2014/main" id="{5F8BCD06-708D-4651-A509-CD434418D9B7}"/>
              </a:ext>
            </a:extLst>
          </p:cNvPr>
          <p:cNvSpPr>
            <a:spLocks noGrp="1"/>
          </p:cNvSpPr>
          <p:nvPr/>
        </p:nvSpPr>
        <p:spPr>
          <a:xfrm>
            <a:off x="4514850" y="29527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测试文件</a:t>
            </a:r>
          </a:p>
        </p:txBody>
      </p:sp>
      <p:sp>
        <p:nvSpPr>
          <p:cNvPr id="11" name="text-160">
            <a:extLst>
              <a:ext uri="{FF2B5EF4-FFF2-40B4-BE49-F238E27FC236}">
                <a16:creationId xmlns:a16="http://schemas.microsoft.com/office/drawing/2014/main" id="{A13FC952-7B55-4353-A20A-C2E814DEDDAB}"/>
              </a:ext>
            </a:extLst>
          </p:cNvPr>
          <p:cNvSpPr>
            <a:spLocks noGrp="1"/>
          </p:cNvSpPr>
          <p:nvPr/>
        </p:nvSpPr>
        <p:spPr>
          <a:xfrm>
            <a:off x="4514850" y="34099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API / Service / Core / Pipeline</a:t>
            </a:r>
          </a:p>
        </p:txBody>
      </p:sp>
      <p:sp>
        <p:nvSpPr>
          <p:cNvPr id="12" name="box-161">
            <a:extLst>
              <a:ext uri="{FF2B5EF4-FFF2-40B4-BE49-F238E27FC236}">
                <a16:creationId xmlns:a16="http://schemas.microsoft.com/office/drawing/2014/main" id="{E246C50F-7EE7-461C-9555-D8877BBB433F}"/>
              </a:ext>
            </a:extLst>
          </p:cNvPr>
          <p:cNvSpPr>
            <a:spLocks noGrp="1"/>
          </p:cNvSpPr>
          <p:nvPr/>
        </p:nvSpPr>
        <p:spPr>
          <a:xfrm>
            <a:off x="8172450" y="1638300"/>
            <a:ext cx="3486150" cy="2247900"/>
          </a:xfrm>
          <a:prstGeom prst="roundRect">
            <a:avLst>
              <a:gd name="adj" fmla="val 3390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3" name="text-162">
            <a:extLst>
              <a:ext uri="{FF2B5EF4-FFF2-40B4-BE49-F238E27FC236}">
                <a16:creationId xmlns:a16="http://schemas.microsoft.com/office/drawing/2014/main" id="{044493E1-AB92-4A38-9922-745C0F21DDC0}"/>
              </a:ext>
            </a:extLst>
          </p:cNvPr>
          <p:cNvSpPr>
            <a:spLocks noGrp="1"/>
          </p:cNvSpPr>
          <p:nvPr/>
        </p:nvSpPr>
        <p:spPr>
          <a:xfrm>
            <a:off x="8401050" y="1866900"/>
            <a:ext cx="2952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text-163">
            <a:extLst>
              <a:ext uri="{FF2B5EF4-FFF2-40B4-BE49-F238E27FC236}">
                <a16:creationId xmlns:a16="http://schemas.microsoft.com/office/drawing/2014/main" id="{694FB767-D9E4-4AED-BBD7-6702BB3DDFB2}"/>
              </a:ext>
            </a:extLst>
          </p:cNvPr>
          <p:cNvSpPr>
            <a:spLocks noGrp="1"/>
          </p:cNvSpPr>
          <p:nvPr/>
        </p:nvSpPr>
        <p:spPr>
          <a:xfrm>
            <a:off x="8401050" y="29527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自动化门禁</a:t>
            </a:r>
          </a:p>
        </p:txBody>
      </p:sp>
      <p:sp>
        <p:nvSpPr>
          <p:cNvPr id="15" name="text-164">
            <a:extLst>
              <a:ext uri="{FF2B5EF4-FFF2-40B4-BE49-F238E27FC236}">
                <a16:creationId xmlns:a16="http://schemas.microsoft.com/office/drawing/2014/main" id="{1A40BDCE-3BE7-4C55-8FA3-4D1BF8B31933}"/>
              </a:ext>
            </a:extLst>
          </p:cNvPr>
          <p:cNvSpPr>
            <a:spLocks noGrp="1"/>
          </p:cNvSpPr>
          <p:nvPr/>
        </p:nvSpPr>
        <p:spPr>
          <a:xfrm>
            <a:off x="8401050" y="34099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pytest · Ruff · Vite build</a:t>
            </a:r>
          </a:p>
        </p:txBody>
      </p:sp>
      <p:sp>
        <p:nvSpPr>
          <p:cNvPr id="16" name="rule-165">
            <a:extLst>
              <a:ext uri="{FF2B5EF4-FFF2-40B4-BE49-F238E27FC236}">
                <a16:creationId xmlns:a16="http://schemas.microsoft.com/office/drawing/2014/main" id="{1B7FBE8A-09B0-40C9-A370-E3561C7CAA94}"/>
              </a:ext>
            </a:extLst>
          </p:cNvPr>
          <p:cNvSpPr>
            <a:spLocks noGrp="1"/>
          </p:cNvSpPr>
          <p:nvPr/>
        </p:nvSpPr>
        <p:spPr>
          <a:xfrm>
            <a:off x="400050" y="438150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7" name="text-166">
            <a:extLst>
              <a:ext uri="{FF2B5EF4-FFF2-40B4-BE49-F238E27FC236}">
                <a16:creationId xmlns:a16="http://schemas.microsoft.com/office/drawing/2014/main" id="{88A68C08-FF93-49F5-AD26-6727E8F73058}"/>
              </a:ext>
            </a:extLst>
          </p:cNvPr>
          <p:cNvSpPr>
            <a:spLocks noGrp="1"/>
          </p:cNvSpPr>
          <p:nvPr/>
        </p:nvSpPr>
        <p:spPr>
          <a:xfrm>
            <a:off x="400050" y="46482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本次复核</a:t>
            </a:r>
          </a:p>
        </p:txBody>
      </p:sp>
      <p:sp>
        <p:nvSpPr>
          <p:cNvPr id="18" name="text-167">
            <a:extLst>
              <a:ext uri="{FF2B5EF4-FFF2-40B4-BE49-F238E27FC236}">
                <a16:creationId xmlns:a16="http://schemas.microsoft.com/office/drawing/2014/main" id="{9315CE69-D3C0-48A3-8F48-9FED1022F5B5}"/>
              </a:ext>
            </a:extLst>
          </p:cNvPr>
          <p:cNvSpPr>
            <a:spLocks noGrp="1"/>
          </p:cNvSpPr>
          <p:nvPr/>
        </p:nvSpPr>
        <p:spPr>
          <a:xfrm>
            <a:off x="1952625" y="4648200"/>
            <a:ext cx="962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Ruff：全部通过     |     Frontend：4142 modules，生产构建成功     |     CI：uv sync → ruff → pytest</a:t>
            </a:r>
          </a:p>
        </p:txBody>
      </p:sp>
      <p:sp>
        <p:nvSpPr>
          <p:cNvPr id="19" name="text-168">
            <a:extLst>
              <a:ext uri="{FF2B5EF4-FFF2-40B4-BE49-F238E27FC236}">
                <a16:creationId xmlns:a16="http://schemas.microsoft.com/office/drawing/2014/main" id="{EECBE00E-893E-46D3-A785-E4244A85386A}"/>
              </a:ext>
            </a:extLst>
          </p:cNvPr>
          <p:cNvSpPr>
            <a:spLocks noGrp="1"/>
          </p:cNvSpPr>
          <p:nvPr/>
        </p:nvSpPr>
        <p:spPr>
          <a:xfrm>
            <a:off x="400050" y="53149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性能验收脚本</a:t>
            </a:r>
          </a:p>
        </p:txBody>
      </p:sp>
      <p:sp>
        <p:nvSpPr>
          <p:cNvPr id="20" name="text-169">
            <a:extLst>
              <a:ext uri="{FF2B5EF4-FFF2-40B4-BE49-F238E27FC236}">
                <a16:creationId xmlns:a16="http://schemas.microsoft.com/office/drawing/2014/main" id="{4798A13F-5BC7-4D05-A7DB-3FA5047CE872}"/>
              </a:ext>
            </a:extLst>
          </p:cNvPr>
          <p:cNvSpPr>
            <a:spLocks noGrp="1"/>
          </p:cNvSpPr>
          <p:nvPr/>
        </p:nvSpPr>
        <p:spPr>
          <a:xfrm>
            <a:off x="1952625" y="5314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≥100 条数据 · 100 并发用户 · p95 &lt; 3s（不含 LLM）</a:t>
            </a:r>
          </a:p>
        </p:txBody>
      </p:sp>
    </p:spTree>
    <p:extLst>
      <p:ext uri="{BB962C8B-B14F-4D97-AF65-F5344CB8AC3E}">
        <p14:creationId xmlns:p14="http://schemas.microsoft.com/office/powerpoint/2010/main" val="80115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170">
            <a:extLst>
              <a:ext uri="{FF2B5EF4-FFF2-40B4-BE49-F238E27FC236}">
                <a16:creationId xmlns:a16="http://schemas.microsoft.com/office/drawing/2014/main" id="{C8065759-3239-4854-ADFF-80A5988B14A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项目管理</a:t>
            </a:r>
          </a:p>
        </p:txBody>
      </p:sp>
      <p:sp>
        <p:nvSpPr>
          <p:cNvPr id="2" name="text-171">
            <a:extLst>
              <a:ext uri="{FF2B5EF4-FFF2-40B4-BE49-F238E27FC236}">
                <a16:creationId xmlns:a16="http://schemas.microsoft.com/office/drawing/2014/main" id="{E5F00479-1C77-4B94-8B87-FACB12FF6173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</a:t>
            </a:r>
            <a:r>
              <a:rPr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轮迭代用功能分支、PR</a:t>
            </a:r>
            <a:r>
              <a:rPr sz="3600" b="1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与</a:t>
            </a:r>
            <a:r>
              <a:rPr sz="3600" b="1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CI </a:t>
            </a:r>
            <a:r>
              <a:rPr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控制集成风险</a:t>
            </a:r>
            <a:endParaRPr sz="3600" b="1" dirty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-172">
            <a:extLst>
              <a:ext uri="{FF2B5EF4-FFF2-40B4-BE49-F238E27FC236}">
                <a16:creationId xmlns:a16="http://schemas.microsoft.com/office/drawing/2014/main" id="{E3D8CF33-94A1-448A-8460-9AE3C8545C37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09 / 12</a:t>
            </a:r>
          </a:p>
        </p:txBody>
      </p:sp>
      <p:sp>
        <p:nvSpPr>
          <p:cNvPr id="4" name="text-173">
            <a:extLst>
              <a:ext uri="{FF2B5EF4-FFF2-40B4-BE49-F238E27FC236}">
                <a16:creationId xmlns:a16="http://schemas.microsoft.com/office/drawing/2014/main" id="{FB96E28E-5866-4CA5-BE55-552090677CC0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功能分支  →  Pull Request  →  自动检查  →  主干合并</a:t>
            </a:r>
          </a:p>
        </p:txBody>
      </p:sp>
      <p:sp>
        <p:nvSpPr>
          <p:cNvPr id="5" name="text-174">
            <a:extLst>
              <a:ext uri="{FF2B5EF4-FFF2-40B4-BE49-F238E27FC236}">
                <a16:creationId xmlns:a16="http://schemas.microsoft.com/office/drawing/2014/main" id="{F77E63C3-F1A6-4AF9-B057-6A7FE132B1EF}"/>
              </a:ext>
            </a:extLst>
          </p:cNvPr>
          <p:cNvSpPr>
            <a:spLocks noGrp="1"/>
          </p:cNvSpPr>
          <p:nvPr/>
        </p:nvSpPr>
        <p:spPr>
          <a:xfrm>
            <a:off x="7953375" y="12573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领域职责 + 共享接口契约 + 公共模型协调</a:t>
            </a:r>
          </a:p>
        </p:txBody>
      </p:sp>
      <p:sp>
        <p:nvSpPr>
          <p:cNvPr id="6" name="rule-175">
            <a:extLst>
              <a:ext uri="{FF2B5EF4-FFF2-40B4-BE49-F238E27FC236}">
                <a16:creationId xmlns:a16="http://schemas.microsoft.com/office/drawing/2014/main" id="{854D66B5-ABC6-4BAA-8589-DB7BD869ADDB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86868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7" name="box-176">
            <a:extLst>
              <a:ext uri="{FF2B5EF4-FFF2-40B4-BE49-F238E27FC236}">
                <a16:creationId xmlns:a16="http://schemas.microsoft.com/office/drawing/2014/main" id="{F48562C0-4404-4FD0-BFC2-7AD50F4BDC6C}"/>
              </a:ext>
            </a:extLst>
          </p:cNvPr>
          <p:cNvSpPr>
            <a:spLocks noGrp="1"/>
          </p:cNvSpPr>
          <p:nvPr/>
        </p:nvSpPr>
        <p:spPr>
          <a:xfrm>
            <a:off x="714375" y="3019425"/>
            <a:ext cx="133350" cy="13335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-177">
            <a:extLst>
              <a:ext uri="{FF2B5EF4-FFF2-40B4-BE49-F238E27FC236}">
                <a16:creationId xmlns:a16="http://schemas.microsoft.com/office/drawing/2014/main" id="{637CF74E-3F11-4ADA-B891-92301F1C8283}"/>
              </a:ext>
            </a:extLst>
          </p:cNvPr>
          <p:cNvSpPr>
            <a:spLocks noGrp="1"/>
          </p:cNvSpPr>
          <p:nvPr/>
        </p:nvSpPr>
        <p:spPr>
          <a:xfrm>
            <a:off x="590550" y="2343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07/06–07/10</a:t>
            </a:r>
          </a:p>
        </p:txBody>
      </p:sp>
      <p:sp>
        <p:nvSpPr>
          <p:cNvPr id="9" name="text-178">
            <a:extLst>
              <a:ext uri="{FF2B5EF4-FFF2-40B4-BE49-F238E27FC236}">
                <a16:creationId xmlns:a16="http://schemas.microsoft.com/office/drawing/2014/main" id="{2FD0EAF0-2431-4D0F-8AF7-7338B8C90CA4}"/>
              </a:ext>
            </a:extLst>
          </p:cNvPr>
          <p:cNvSpPr>
            <a:spLocks noGrp="1"/>
          </p:cNvSpPr>
          <p:nvPr/>
        </p:nvSpPr>
        <p:spPr>
          <a:xfrm>
            <a:off x="590550" y="34861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原型与分层</a:t>
            </a:r>
          </a:p>
        </p:txBody>
      </p:sp>
      <p:sp>
        <p:nvSpPr>
          <p:cNvPr id="10" name="text-179">
            <a:extLst>
              <a:ext uri="{FF2B5EF4-FFF2-40B4-BE49-F238E27FC236}">
                <a16:creationId xmlns:a16="http://schemas.microsoft.com/office/drawing/2014/main" id="{56109896-4BE7-4CAF-B89D-AA49B1D33D4E}"/>
              </a:ext>
            </a:extLst>
          </p:cNvPr>
          <p:cNvSpPr>
            <a:spLocks noGrp="1"/>
          </p:cNvSpPr>
          <p:nvPr/>
        </p:nvSpPr>
        <p:spPr>
          <a:xfrm>
            <a:off x="590550" y="40005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页面、services 与导航骨架</a:t>
            </a:r>
          </a:p>
        </p:txBody>
      </p:sp>
      <p:sp>
        <p:nvSpPr>
          <p:cNvPr id="11" name="box-180">
            <a:extLst>
              <a:ext uri="{FF2B5EF4-FFF2-40B4-BE49-F238E27FC236}">
                <a16:creationId xmlns:a16="http://schemas.microsoft.com/office/drawing/2014/main" id="{70D12363-07D9-4325-976A-85E9B03661D7}"/>
              </a:ext>
            </a:extLst>
          </p:cNvPr>
          <p:cNvSpPr>
            <a:spLocks noGrp="1"/>
          </p:cNvSpPr>
          <p:nvPr/>
        </p:nvSpPr>
        <p:spPr>
          <a:xfrm>
            <a:off x="3609975" y="3019425"/>
            <a:ext cx="133350" cy="13335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2" name="text-181">
            <a:extLst>
              <a:ext uri="{FF2B5EF4-FFF2-40B4-BE49-F238E27FC236}">
                <a16:creationId xmlns:a16="http://schemas.microsoft.com/office/drawing/2014/main" id="{A6397AA7-C915-42F9-8963-30946EB89462}"/>
              </a:ext>
            </a:extLst>
          </p:cNvPr>
          <p:cNvSpPr>
            <a:spLocks noGrp="1"/>
          </p:cNvSpPr>
          <p:nvPr/>
        </p:nvSpPr>
        <p:spPr>
          <a:xfrm>
            <a:off x="3486150" y="2343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07/14–07/17</a:t>
            </a:r>
          </a:p>
        </p:txBody>
      </p:sp>
      <p:sp>
        <p:nvSpPr>
          <p:cNvPr id="13" name="text-182">
            <a:extLst>
              <a:ext uri="{FF2B5EF4-FFF2-40B4-BE49-F238E27FC236}">
                <a16:creationId xmlns:a16="http://schemas.microsoft.com/office/drawing/2014/main" id="{74FF7D15-658D-4EE1-903A-1ED7BA9B12D6}"/>
              </a:ext>
            </a:extLst>
          </p:cNvPr>
          <p:cNvSpPr>
            <a:spLocks noGrp="1"/>
          </p:cNvSpPr>
          <p:nvPr/>
        </p:nvSpPr>
        <p:spPr>
          <a:xfrm>
            <a:off x="3486150" y="34861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后端核心</a:t>
            </a:r>
          </a:p>
        </p:txBody>
      </p:sp>
      <p:sp>
        <p:nvSpPr>
          <p:cNvPr id="14" name="text-183">
            <a:extLst>
              <a:ext uri="{FF2B5EF4-FFF2-40B4-BE49-F238E27FC236}">
                <a16:creationId xmlns:a16="http://schemas.microsoft.com/office/drawing/2014/main" id="{9CFAA198-79FD-402B-9AF3-D5415EAAF1E7}"/>
              </a:ext>
            </a:extLst>
          </p:cNvPr>
          <p:cNvSpPr>
            <a:spLocks noGrp="1"/>
          </p:cNvSpPr>
          <p:nvPr/>
        </p:nvSpPr>
        <p:spPr>
          <a:xfrm>
            <a:off x="3486150" y="40005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认证、论文、任务与 CI</a:t>
            </a:r>
          </a:p>
        </p:txBody>
      </p:sp>
      <p:sp>
        <p:nvSpPr>
          <p:cNvPr id="15" name="box-184">
            <a:extLst>
              <a:ext uri="{FF2B5EF4-FFF2-40B4-BE49-F238E27FC236}">
                <a16:creationId xmlns:a16="http://schemas.microsoft.com/office/drawing/2014/main" id="{5F8D5C03-88AE-4D57-83B1-B285E2B3BCE0}"/>
              </a:ext>
            </a:extLst>
          </p:cNvPr>
          <p:cNvSpPr>
            <a:spLocks noGrp="1"/>
          </p:cNvSpPr>
          <p:nvPr/>
        </p:nvSpPr>
        <p:spPr>
          <a:xfrm>
            <a:off x="6505575" y="3019425"/>
            <a:ext cx="133350" cy="13335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6" name="text-185">
            <a:extLst>
              <a:ext uri="{FF2B5EF4-FFF2-40B4-BE49-F238E27FC236}">
                <a16:creationId xmlns:a16="http://schemas.microsoft.com/office/drawing/2014/main" id="{BF1DBAEC-632F-4EB1-9A34-3AD0257E1A3E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07/20–07/24</a:t>
            </a:r>
          </a:p>
        </p:txBody>
      </p:sp>
      <p:sp>
        <p:nvSpPr>
          <p:cNvPr id="17" name="text-186">
            <a:extLst>
              <a:ext uri="{FF2B5EF4-FFF2-40B4-BE49-F238E27FC236}">
                <a16:creationId xmlns:a16="http://schemas.microsoft.com/office/drawing/2014/main" id="{8DC4C328-AF1B-4D33-A3FB-BA41CBEF08DF}"/>
              </a:ext>
            </a:extLst>
          </p:cNvPr>
          <p:cNvSpPr>
            <a:spLocks noGrp="1"/>
          </p:cNvSpPr>
          <p:nvPr/>
        </p:nvSpPr>
        <p:spPr>
          <a:xfrm>
            <a:off x="6381750" y="34861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真实联调</a:t>
            </a:r>
          </a:p>
        </p:txBody>
      </p:sp>
      <p:sp>
        <p:nvSpPr>
          <p:cNvPr id="18" name="text-187">
            <a:extLst>
              <a:ext uri="{FF2B5EF4-FFF2-40B4-BE49-F238E27FC236}">
                <a16:creationId xmlns:a16="http://schemas.microsoft.com/office/drawing/2014/main" id="{1FB6017C-C62F-48F0-B8FD-1C02CCB29D10}"/>
              </a:ext>
            </a:extLst>
          </p:cNvPr>
          <p:cNvSpPr>
            <a:spLocks noGrp="1"/>
          </p:cNvSpPr>
          <p:nvPr/>
        </p:nvSpPr>
        <p:spPr>
          <a:xfrm>
            <a:off x="6381750" y="40005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RAG、可靠性、真实数据</a:t>
            </a:r>
          </a:p>
        </p:txBody>
      </p:sp>
      <p:sp>
        <p:nvSpPr>
          <p:cNvPr id="19" name="box-188">
            <a:extLst>
              <a:ext uri="{FF2B5EF4-FFF2-40B4-BE49-F238E27FC236}">
                <a16:creationId xmlns:a16="http://schemas.microsoft.com/office/drawing/2014/main" id="{8704017C-8F29-4255-BC5D-4A9475B71CBD}"/>
              </a:ext>
            </a:extLst>
          </p:cNvPr>
          <p:cNvSpPr>
            <a:spLocks noGrp="1"/>
          </p:cNvSpPr>
          <p:nvPr/>
        </p:nvSpPr>
        <p:spPr>
          <a:xfrm>
            <a:off x="9401175" y="3019425"/>
            <a:ext cx="133350" cy="133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text-189">
            <a:extLst>
              <a:ext uri="{FF2B5EF4-FFF2-40B4-BE49-F238E27FC236}">
                <a16:creationId xmlns:a16="http://schemas.microsoft.com/office/drawing/2014/main" id="{7DFE3B4E-B95C-4CFC-8F01-055CC1E78A05}"/>
              </a:ext>
            </a:extLst>
          </p:cNvPr>
          <p:cNvSpPr>
            <a:spLocks noGrp="1"/>
          </p:cNvSpPr>
          <p:nvPr/>
        </p:nvSpPr>
        <p:spPr>
          <a:xfrm>
            <a:off x="9277350" y="2343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07/27–07/30</a:t>
            </a:r>
          </a:p>
        </p:txBody>
      </p:sp>
      <p:sp>
        <p:nvSpPr>
          <p:cNvPr id="21" name="text-190">
            <a:extLst>
              <a:ext uri="{FF2B5EF4-FFF2-40B4-BE49-F238E27FC236}">
                <a16:creationId xmlns:a16="http://schemas.microsoft.com/office/drawing/2014/main" id="{2937E4A1-A28C-4DA9-AD0E-95708D2C4956}"/>
              </a:ext>
            </a:extLst>
          </p:cNvPr>
          <p:cNvSpPr>
            <a:spLocks noGrp="1"/>
          </p:cNvSpPr>
          <p:nvPr/>
        </p:nvSpPr>
        <p:spPr>
          <a:xfrm>
            <a:off x="9277350" y="34861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发布收敛</a:t>
            </a:r>
          </a:p>
        </p:txBody>
      </p:sp>
      <p:sp>
        <p:nvSpPr>
          <p:cNvPr id="22" name="text-191">
            <a:extLst>
              <a:ext uri="{FF2B5EF4-FFF2-40B4-BE49-F238E27FC236}">
                <a16:creationId xmlns:a16="http://schemas.microsoft.com/office/drawing/2014/main" id="{6FF7D8F4-2541-49CE-A5D4-5A3A530BEE15}"/>
              </a:ext>
            </a:extLst>
          </p:cNvPr>
          <p:cNvSpPr>
            <a:spLocks noGrp="1"/>
          </p:cNvSpPr>
          <p:nvPr/>
        </p:nvSpPr>
        <p:spPr>
          <a:xfrm>
            <a:off x="9277350" y="40005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UI、推荐、部署与文档</a:t>
            </a:r>
          </a:p>
        </p:txBody>
      </p:sp>
      <p:sp>
        <p:nvSpPr>
          <p:cNvPr id="23" name="box-192">
            <a:extLst>
              <a:ext uri="{FF2B5EF4-FFF2-40B4-BE49-F238E27FC236}">
                <a16:creationId xmlns:a16="http://schemas.microsoft.com/office/drawing/2014/main" id="{0E3D9C5A-492A-4813-91F8-5D6E039EC81D}"/>
              </a:ext>
            </a:extLst>
          </p:cNvPr>
          <p:cNvSpPr>
            <a:spLocks noGrp="1"/>
          </p:cNvSpPr>
          <p:nvPr/>
        </p:nvSpPr>
        <p:spPr>
          <a:xfrm>
            <a:off x="400050" y="5162550"/>
            <a:ext cx="11391900" cy="91440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26" name="text-195">
            <a:extLst>
              <a:ext uri="{FF2B5EF4-FFF2-40B4-BE49-F238E27FC236}">
                <a16:creationId xmlns:a16="http://schemas.microsoft.com/office/drawing/2014/main" id="{25459F0E-25A1-4EDB-BE24-7EB65DE7F61D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209</a:t>
            </a:r>
          </a:p>
        </p:txBody>
      </p:sp>
      <p:sp>
        <p:nvSpPr>
          <p:cNvPr id="27" name="text-196">
            <a:extLst>
              <a:ext uri="{FF2B5EF4-FFF2-40B4-BE49-F238E27FC236}">
                <a16:creationId xmlns:a16="http://schemas.microsoft.com/office/drawing/2014/main" id="{29356C1B-265D-4B69-A4EF-D23DE5D48928}"/>
              </a:ext>
            </a:extLst>
          </p:cNvPr>
          <p:cNvSpPr>
            <a:spLocks noGrp="1"/>
          </p:cNvSpPr>
          <p:nvPr/>
        </p:nvSpPr>
        <p:spPr>
          <a:xfrm>
            <a:off x="4610100" y="5448300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</a:t>
            </a:r>
            <a:endParaRPr sz="1575" b="1" dirty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-197">
            <a:extLst>
              <a:ext uri="{FF2B5EF4-FFF2-40B4-BE49-F238E27FC236}">
                <a16:creationId xmlns:a16="http://schemas.microsoft.com/office/drawing/2014/main" id="{E1736AD9-8E4B-4663-A571-BA3034763AD6}"/>
              </a:ext>
            </a:extLst>
          </p:cNvPr>
          <p:cNvSpPr>
            <a:spLocks noGrp="1"/>
          </p:cNvSpPr>
          <p:nvPr/>
        </p:nvSpPr>
        <p:spPr>
          <a:xfrm>
            <a:off x="6572250" y="531495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83</a:t>
            </a:r>
          </a:p>
        </p:txBody>
      </p:sp>
      <p:sp>
        <p:nvSpPr>
          <p:cNvPr id="29" name="text-198">
            <a:extLst>
              <a:ext uri="{FF2B5EF4-FFF2-40B4-BE49-F238E27FC236}">
                <a16:creationId xmlns:a16="http://schemas.microsoft.com/office/drawing/2014/main" id="{1AD85764-FE94-4880-953D-44B37BE91536}"/>
              </a:ext>
            </a:extLst>
          </p:cNvPr>
          <p:cNvSpPr>
            <a:spLocks noGrp="1"/>
          </p:cNvSpPr>
          <p:nvPr/>
        </p:nvSpPr>
        <p:spPr>
          <a:xfrm>
            <a:off x="7467600" y="5448300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 合并</a:t>
            </a:r>
          </a:p>
        </p:txBody>
      </p:sp>
      <p:sp>
        <p:nvSpPr>
          <p:cNvPr id="30" name="text-199">
            <a:extLst>
              <a:ext uri="{FF2B5EF4-FFF2-40B4-BE49-F238E27FC236}">
                <a16:creationId xmlns:a16="http://schemas.microsoft.com/office/drawing/2014/main" id="{505B405F-82BF-4790-9EA6-6287322C612F}"/>
              </a:ext>
            </a:extLst>
          </p:cNvPr>
          <p:cNvSpPr>
            <a:spLocks noGrp="1"/>
          </p:cNvSpPr>
          <p:nvPr/>
        </p:nvSpPr>
        <p:spPr>
          <a:xfrm>
            <a:off x="8953500" y="544830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跨平台启动脚本</a:t>
            </a:r>
            <a:r>
              <a:rPr sz="1425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· Docker Compose · </a:t>
            </a:r>
            <a:r>
              <a:rPr sz="1425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云端部署</a:t>
            </a:r>
            <a:endParaRPr sz="1425" b="0" dirty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179758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-200">
            <a:extLst>
              <a:ext uri="{FF2B5EF4-FFF2-40B4-BE49-F238E27FC236}">
                <a16:creationId xmlns:a16="http://schemas.microsoft.com/office/drawing/2014/main" id="{B556E745-7740-4E54-8F76-E09C3F59367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成员贡献</a:t>
            </a:r>
          </a:p>
        </p:txBody>
      </p:sp>
      <p:sp>
        <p:nvSpPr>
          <p:cNvPr id="2" name="text-201">
            <a:extLst>
              <a:ext uri="{FF2B5EF4-FFF2-40B4-BE49-F238E27FC236}">
                <a16:creationId xmlns:a16="http://schemas.microsoft.com/office/drawing/2014/main" id="{426BB2EB-3449-4076-A4F2-55483AAD097A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成员总贡献均为</a:t>
            </a:r>
            <a:r>
              <a:rPr sz="3600" b="1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20%，</a:t>
            </a:r>
            <a:r>
              <a:rPr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职责互补</a:t>
            </a:r>
            <a:endParaRPr sz="3600" b="1" dirty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-202">
            <a:extLst>
              <a:ext uri="{FF2B5EF4-FFF2-40B4-BE49-F238E27FC236}">
                <a16:creationId xmlns:a16="http://schemas.microsoft.com/office/drawing/2014/main" id="{C432F6E7-D20B-4C7C-80C3-2845DA4D4DAF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10 / 12</a:t>
            </a:r>
          </a:p>
        </p:txBody>
      </p:sp>
      <p:sp>
        <p:nvSpPr>
          <p:cNvPr id="4" name="text-203">
            <a:extLst>
              <a:ext uri="{FF2B5EF4-FFF2-40B4-BE49-F238E27FC236}">
                <a16:creationId xmlns:a16="http://schemas.microsoft.com/office/drawing/2014/main" id="{69F7B5EC-424F-4388-80BA-B8F62715715B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成员</a:t>
            </a:r>
          </a:p>
        </p:txBody>
      </p:sp>
      <p:sp>
        <p:nvSpPr>
          <p:cNvPr id="5" name="text-204">
            <a:extLst>
              <a:ext uri="{FF2B5EF4-FFF2-40B4-BE49-F238E27FC236}">
                <a16:creationId xmlns:a16="http://schemas.microsoft.com/office/drawing/2014/main" id="{5174E24F-EED2-4D1F-BF6A-0E2B0C2BE168}"/>
              </a:ext>
            </a:extLst>
          </p:cNvPr>
          <p:cNvSpPr>
            <a:spLocks noGrp="1"/>
          </p:cNvSpPr>
          <p:nvPr/>
        </p:nvSpPr>
        <p:spPr>
          <a:xfrm>
            <a:off x="1905000" y="13525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负责</a:t>
            </a:r>
            <a:endParaRPr sz="1425" b="1" dirty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-205">
            <a:extLst>
              <a:ext uri="{FF2B5EF4-FFF2-40B4-BE49-F238E27FC236}">
                <a16:creationId xmlns:a16="http://schemas.microsoft.com/office/drawing/2014/main" id="{625985DE-5305-4D7D-A7E8-FB99A3762036}"/>
              </a:ext>
            </a:extLst>
          </p:cNvPr>
          <p:cNvSpPr>
            <a:spLocks noGrp="1"/>
          </p:cNvSpPr>
          <p:nvPr/>
        </p:nvSpPr>
        <p:spPr>
          <a:xfrm>
            <a:off x="6191250" y="13525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跨模块贡献</a:t>
            </a:r>
          </a:p>
        </p:txBody>
      </p:sp>
      <p:sp>
        <p:nvSpPr>
          <p:cNvPr id="7" name="text-206">
            <a:extLst>
              <a:ext uri="{FF2B5EF4-FFF2-40B4-BE49-F238E27FC236}">
                <a16:creationId xmlns:a16="http://schemas.microsoft.com/office/drawing/2014/main" id="{2F5E3208-82FC-49B2-BF36-9535DD002465}"/>
              </a:ext>
            </a:extLst>
          </p:cNvPr>
          <p:cNvSpPr>
            <a:spLocks noGrp="1"/>
          </p:cNvSpPr>
          <p:nvPr/>
        </p:nvSpPr>
        <p:spPr>
          <a:xfrm>
            <a:off x="10287000" y="13525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总计</a:t>
            </a:r>
          </a:p>
        </p:txBody>
      </p:sp>
      <p:sp>
        <p:nvSpPr>
          <p:cNvPr id="8" name="rule-207">
            <a:extLst>
              <a:ext uri="{FF2B5EF4-FFF2-40B4-BE49-F238E27FC236}">
                <a16:creationId xmlns:a16="http://schemas.microsoft.com/office/drawing/2014/main" id="{04B02501-1E59-43E8-BFB4-20A0D45D399F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113919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9" name="box-208">
            <a:extLst>
              <a:ext uri="{FF2B5EF4-FFF2-40B4-BE49-F238E27FC236}">
                <a16:creationId xmlns:a16="http://schemas.microsoft.com/office/drawing/2014/main" id="{E3264D93-FBB9-4BF8-BD57-411A686CF046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11391900" cy="762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0" name="text-209">
            <a:extLst>
              <a:ext uri="{FF2B5EF4-FFF2-40B4-BE49-F238E27FC236}">
                <a16:creationId xmlns:a16="http://schemas.microsoft.com/office/drawing/2014/main" id="{8B998F32-9304-4977-9C0E-7C4DFADBFD4F}"/>
              </a:ext>
            </a:extLst>
          </p:cNvPr>
          <p:cNvSpPr>
            <a:spLocks noGrp="1"/>
          </p:cNvSpPr>
          <p:nvPr/>
        </p:nvSpPr>
        <p:spPr>
          <a:xfrm>
            <a:off x="514350" y="200025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王奕博</a:t>
            </a:r>
          </a:p>
        </p:txBody>
      </p:sp>
      <p:sp>
        <p:nvSpPr>
          <p:cNvPr id="11" name="text-210">
            <a:extLst>
              <a:ext uri="{FF2B5EF4-FFF2-40B4-BE49-F238E27FC236}">
                <a16:creationId xmlns:a16="http://schemas.microsoft.com/office/drawing/2014/main" id="{198B1F6D-0688-4559-9382-95A4EDE91646}"/>
              </a:ext>
            </a:extLst>
          </p:cNvPr>
          <p:cNvSpPr>
            <a:spLocks noGrp="1"/>
          </p:cNvSpPr>
          <p:nvPr/>
        </p:nvSpPr>
        <p:spPr>
          <a:xfrm>
            <a:off x="1981200" y="19812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分析 / RAG、订阅、部署与跨平台启动</a:t>
            </a:r>
          </a:p>
        </p:txBody>
      </p:sp>
      <p:sp>
        <p:nvSpPr>
          <p:cNvPr id="12" name="text-211">
            <a:extLst>
              <a:ext uri="{FF2B5EF4-FFF2-40B4-BE49-F238E27FC236}">
                <a16:creationId xmlns:a16="http://schemas.microsoft.com/office/drawing/2014/main" id="{FB8B7AB6-4BBE-49EF-92B0-A8926F589C4E}"/>
              </a:ext>
            </a:extLst>
          </p:cNvPr>
          <p:cNvSpPr>
            <a:spLocks noGrp="1"/>
          </p:cNvSpPr>
          <p:nvPr/>
        </p:nvSpPr>
        <p:spPr>
          <a:xfrm>
            <a:off x="6267450" y="19812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前端联调、解析清洗、自动化测试</a:t>
            </a:r>
          </a:p>
        </p:txBody>
      </p:sp>
      <p:sp>
        <p:nvSpPr>
          <p:cNvPr id="13" name="text-212">
            <a:extLst>
              <a:ext uri="{FF2B5EF4-FFF2-40B4-BE49-F238E27FC236}">
                <a16:creationId xmlns:a16="http://schemas.microsoft.com/office/drawing/2014/main" id="{80C4A948-4E75-4AE9-8F2D-2BACD61A8C97}"/>
              </a:ext>
            </a:extLst>
          </p:cNvPr>
          <p:cNvSpPr>
            <a:spLocks noGrp="1"/>
          </p:cNvSpPr>
          <p:nvPr/>
        </p:nvSpPr>
        <p:spPr>
          <a:xfrm>
            <a:off x="10287000" y="197167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4" name="text-213">
            <a:extLst>
              <a:ext uri="{FF2B5EF4-FFF2-40B4-BE49-F238E27FC236}">
                <a16:creationId xmlns:a16="http://schemas.microsoft.com/office/drawing/2014/main" id="{7FE0FF69-F047-4CAB-9D1D-A9180DAFC56E}"/>
              </a:ext>
            </a:extLst>
          </p:cNvPr>
          <p:cNvSpPr>
            <a:spLocks noGrp="1"/>
          </p:cNvSpPr>
          <p:nvPr/>
        </p:nvSpPr>
        <p:spPr>
          <a:xfrm>
            <a:off x="514350" y="283845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刘翔</a:t>
            </a:r>
          </a:p>
        </p:txBody>
      </p:sp>
      <p:sp>
        <p:nvSpPr>
          <p:cNvPr id="15" name="text-214">
            <a:extLst>
              <a:ext uri="{FF2B5EF4-FFF2-40B4-BE49-F238E27FC236}">
                <a16:creationId xmlns:a16="http://schemas.microsoft.com/office/drawing/2014/main" id="{73D34E2A-0926-4EDD-A8F9-4F520E0B511D}"/>
              </a:ext>
            </a:extLst>
          </p:cNvPr>
          <p:cNvSpPr>
            <a:spLocks noGrp="1"/>
          </p:cNvSpPr>
          <p:nvPr/>
        </p:nvSpPr>
        <p:spPr>
          <a:xfrm>
            <a:off x="1981200" y="28194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UI/主题、认证、抓取与分析可靠性</a:t>
            </a:r>
          </a:p>
        </p:txBody>
      </p:sp>
      <p:sp>
        <p:nvSpPr>
          <p:cNvPr id="16" name="text-215">
            <a:extLst>
              <a:ext uri="{FF2B5EF4-FFF2-40B4-BE49-F238E27FC236}">
                <a16:creationId xmlns:a16="http://schemas.microsoft.com/office/drawing/2014/main" id="{496C0C57-06CE-4B02-8575-02163449FC2A}"/>
              </a:ext>
            </a:extLst>
          </p:cNvPr>
          <p:cNvSpPr>
            <a:spLocks noGrp="1"/>
          </p:cNvSpPr>
          <p:nvPr/>
        </p:nvSpPr>
        <p:spPr>
          <a:xfrm>
            <a:off x="6267450" y="28194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架构设计、冲突处理、任务流程</a:t>
            </a:r>
          </a:p>
        </p:txBody>
      </p:sp>
      <p:sp>
        <p:nvSpPr>
          <p:cNvPr id="17" name="text-216">
            <a:extLst>
              <a:ext uri="{FF2B5EF4-FFF2-40B4-BE49-F238E27FC236}">
                <a16:creationId xmlns:a16="http://schemas.microsoft.com/office/drawing/2014/main" id="{88D3D869-B047-431F-AD8D-0DEB4A7112B6}"/>
              </a:ext>
            </a:extLst>
          </p:cNvPr>
          <p:cNvSpPr>
            <a:spLocks noGrp="1"/>
          </p:cNvSpPr>
          <p:nvPr/>
        </p:nvSpPr>
        <p:spPr>
          <a:xfrm>
            <a:off x="10287000" y="280987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8" name="box-217">
            <a:extLst>
              <a:ext uri="{FF2B5EF4-FFF2-40B4-BE49-F238E27FC236}">
                <a16:creationId xmlns:a16="http://schemas.microsoft.com/office/drawing/2014/main" id="{FB5C06B4-CD26-4019-9858-B46ACFC02F0F}"/>
              </a:ext>
            </a:extLst>
          </p:cNvPr>
          <p:cNvSpPr>
            <a:spLocks noGrp="1"/>
          </p:cNvSpPr>
          <p:nvPr/>
        </p:nvSpPr>
        <p:spPr>
          <a:xfrm>
            <a:off x="400050" y="3467100"/>
            <a:ext cx="11391900" cy="762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9" name="text-218">
            <a:extLst>
              <a:ext uri="{FF2B5EF4-FFF2-40B4-BE49-F238E27FC236}">
                <a16:creationId xmlns:a16="http://schemas.microsoft.com/office/drawing/2014/main" id="{9425055C-D1C9-4AED-90E9-0B866A63C625}"/>
              </a:ext>
            </a:extLst>
          </p:cNvPr>
          <p:cNvSpPr>
            <a:spLocks noGrp="1"/>
          </p:cNvSpPr>
          <p:nvPr/>
        </p:nvSpPr>
        <p:spPr>
          <a:xfrm>
            <a:off x="514350" y="367665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王文杰</a:t>
            </a:r>
          </a:p>
        </p:txBody>
      </p:sp>
      <p:sp>
        <p:nvSpPr>
          <p:cNvPr id="20" name="text-219">
            <a:extLst>
              <a:ext uri="{FF2B5EF4-FFF2-40B4-BE49-F238E27FC236}">
                <a16:creationId xmlns:a16="http://schemas.microsoft.com/office/drawing/2014/main" id="{093DC99F-130D-42F3-8FBC-C2B83C349604}"/>
              </a:ext>
            </a:extLst>
          </p:cNvPr>
          <p:cNvSpPr>
            <a:spLocks noGrp="1"/>
          </p:cNvSpPr>
          <p:nvPr/>
        </p:nvSpPr>
        <p:spPr>
          <a:xfrm>
            <a:off x="1981200" y="36576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论文管理、设置、对比与问答交互</a:t>
            </a:r>
          </a:p>
        </p:txBody>
      </p:sp>
      <p:sp>
        <p:nvSpPr>
          <p:cNvPr id="21" name="text-220">
            <a:extLst>
              <a:ext uri="{FF2B5EF4-FFF2-40B4-BE49-F238E27FC236}">
                <a16:creationId xmlns:a16="http://schemas.microsoft.com/office/drawing/2014/main" id="{95A223AB-DC35-4DCB-8E98-10DCA118C408}"/>
              </a:ext>
            </a:extLst>
          </p:cNvPr>
          <p:cNvSpPr>
            <a:spLocks noGrp="1"/>
          </p:cNvSpPr>
          <p:nvPr/>
        </p:nvSpPr>
        <p:spPr>
          <a:xfrm>
            <a:off x="6267450" y="36576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真实数据联调、缺陷修复</a:t>
            </a:r>
          </a:p>
        </p:txBody>
      </p:sp>
      <p:sp>
        <p:nvSpPr>
          <p:cNvPr id="22" name="text-221">
            <a:extLst>
              <a:ext uri="{FF2B5EF4-FFF2-40B4-BE49-F238E27FC236}">
                <a16:creationId xmlns:a16="http://schemas.microsoft.com/office/drawing/2014/main" id="{27FC9E25-1FB6-45A7-BC43-0860138F5A0D}"/>
              </a:ext>
            </a:extLst>
          </p:cNvPr>
          <p:cNvSpPr>
            <a:spLocks noGrp="1"/>
          </p:cNvSpPr>
          <p:nvPr/>
        </p:nvSpPr>
        <p:spPr>
          <a:xfrm>
            <a:off x="10287000" y="364807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23" name="text-222">
            <a:extLst>
              <a:ext uri="{FF2B5EF4-FFF2-40B4-BE49-F238E27FC236}">
                <a16:creationId xmlns:a16="http://schemas.microsoft.com/office/drawing/2014/main" id="{67A11BB5-4571-4E76-BE88-6AD25E626081}"/>
              </a:ext>
            </a:extLst>
          </p:cNvPr>
          <p:cNvSpPr>
            <a:spLocks noGrp="1"/>
          </p:cNvSpPr>
          <p:nvPr/>
        </p:nvSpPr>
        <p:spPr>
          <a:xfrm>
            <a:off x="514350" y="451485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陈熹朗</a:t>
            </a:r>
          </a:p>
        </p:txBody>
      </p:sp>
      <p:sp>
        <p:nvSpPr>
          <p:cNvPr id="24" name="text-223">
            <a:extLst>
              <a:ext uri="{FF2B5EF4-FFF2-40B4-BE49-F238E27FC236}">
                <a16:creationId xmlns:a16="http://schemas.microsoft.com/office/drawing/2014/main" id="{D482B2AF-7DBE-4178-885F-3A91DCE062F2}"/>
              </a:ext>
            </a:extLst>
          </p:cNvPr>
          <p:cNvSpPr>
            <a:spLocks noGrp="1"/>
          </p:cNvSpPr>
          <p:nvPr/>
        </p:nvSpPr>
        <p:spPr>
          <a:xfrm>
            <a:off x="1981200" y="44958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Wiki/</a:t>
            </a:r>
            <a:r>
              <a:rPr sz="1500" b="0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趋势</a:t>
            </a:r>
            <a:r>
              <a:rPr sz="1500" b="0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/Chat </a:t>
            </a:r>
            <a:r>
              <a:rPr sz="1500" b="0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API、比较修复</a:t>
            </a:r>
            <a:endParaRPr sz="1500" b="0" dirty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ext-224">
            <a:extLst>
              <a:ext uri="{FF2B5EF4-FFF2-40B4-BE49-F238E27FC236}">
                <a16:creationId xmlns:a16="http://schemas.microsoft.com/office/drawing/2014/main" id="{59B89F20-884E-4926-9B0D-9589B61C0C45}"/>
              </a:ext>
            </a:extLst>
          </p:cNvPr>
          <p:cNvSpPr>
            <a:spLocks noGrp="1"/>
          </p:cNvSpPr>
          <p:nvPr/>
        </p:nvSpPr>
        <p:spPr>
          <a:xfrm>
            <a:off x="6267450" y="44958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需求、测试、迭代交付</a:t>
            </a:r>
          </a:p>
        </p:txBody>
      </p:sp>
      <p:sp>
        <p:nvSpPr>
          <p:cNvPr id="26" name="text-225">
            <a:extLst>
              <a:ext uri="{FF2B5EF4-FFF2-40B4-BE49-F238E27FC236}">
                <a16:creationId xmlns:a16="http://schemas.microsoft.com/office/drawing/2014/main" id="{6B5979B7-173B-4332-9A62-556D842C5354}"/>
              </a:ext>
            </a:extLst>
          </p:cNvPr>
          <p:cNvSpPr>
            <a:spLocks noGrp="1"/>
          </p:cNvSpPr>
          <p:nvPr/>
        </p:nvSpPr>
        <p:spPr>
          <a:xfrm>
            <a:off x="10287000" y="448627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27" name="box-226">
            <a:extLst>
              <a:ext uri="{FF2B5EF4-FFF2-40B4-BE49-F238E27FC236}">
                <a16:creationId xmlns:a16="http://schemas.microsoft.com/office/drawing/2014/main" id="{0F25E828-279D-490D-AE1F-001027588361}"/>
              </a:ext>
            </a:extLst>
          </p:cNvPr>
          <p:cNvSpPr>
            <a:spLocks noGrp="1"/>
          </p:cNvSpPr>
          <p:nvPr/>
        </p:nvSpPr>
        <p:spPr>
          <a:xfrm>
            <a:off x="400050" y="5143500"/>
            <a:ext cx="11391900" cy="762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28" name="text-227">
            <a:extLst>
              <a:ext uri="{FF2B5EF4-FFF2-40B4-BE49-F238E27FC236}">
                <a16:creationId xmlns:a16="http://schemas.microsoft.com/office/drawing/2014/main" id="{2310BCE0-39FF-432A-B8CB-ADD256DD547B}"/>
              </a:ext>
            </a:extLst>
          </p:cNvPr>
          <p:cNvSpPr>
            <a:spLocks noGrp="1"/>
          </p:cNvSpPr>
          <p:nvPr/>
        </p:nvSpPr>
        <p:spPr>
          <a:xfrm>
            <a:off x="514350" y="535305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李悦朗</a:t>
            </a:r>
          </a:p>
        </p:txBody>
      </p:sp>
      <p:sp>
        <p:nvSpPr>
          <p:cNvPr id="29" name="text-228">
            <a:extLst>
              <a:ext uri="{FF2B5EF4-FFF2-40B4-BE49-F238E27FC236}">
                <a16:creationId xmlns:a16="http://schemas.microsoft.com/office/drawing/2014/main" id="{37DCD968-733E-4113-BDB7-8B1B2DF8F6C2}"/>
              </a:ext>
            </a:extLst>
          </p:cNvPr>
          <p:cNvSpPr>
            <a:spLocks noGrp="1"/>
          </p:cNvSpPr>
          <p:nvPr/>
        </p:nvSpPr>
        <p:spPr>
          <a:xfrm>
            <a:off x="1981200" y="53340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后端框架、学习/推荐/订阅、论文管理</a:t>
            </a:r>
          </a:p>
        </p:txBody>
      </p:sp>
      <p:sp>
        <p:nvSpPr>
          <p:cNvPr id="30" name="text-229">
            <a:extLst>
              <a:ext uri="{FF2B5EF4-FFF2-40B4-BE49-F238E27FC236}">
                <a16:creationId xmlns:a16="http://schemas.microsoft.com/office/drawing/2014/main" id="{78BC0669-5C19-408B-BE68-31B15A32214B}"/>
              </a:ext>
            </a:extLst>
          </p:cNvPr>
          <p:cNvSpPr>
            <a:spLocks noGrp="1"/>
          </p:cNvSpPr>
          <p:nvPr/>
        </p:nvSpPr>
        <p:spPr>
          <a:xfrm>
            <a:off x="6267450" y="53340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系统设计、数据联调与测试</a:t>
            </a:r>
          </a:p>
        </p:txBody>
      </p:sp>
      <p:sp>
        <p:nvSpPr>
          <p:cNvPr id="31" name="text-230">
            <a:extLst>
              <a:ext uri="{FF2B5EF4-FFF2-40B4-BE49-F238E27FC236}">
                <a16:creationId xmlns:a16="http://schemas.microsoft.com/office/drawing/2014/main" id="{4E25309E-ADEE-462E-B96C-4962E059EEC9}"/>
              </a:ext>
            </a:extLst>
          </p:cNvPr>
          <p:cNvSpPr>
            <a:spLocks noGrp="1"/>
          </p:cNvSpPr>
          <p:nvPr/>
        </p:nvSpPr>
        <p:spPr>
          <a:xfrm>
            <a:off x="10287000" y="532447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32" name="rule-231">
            <a:extLst>
              <a:ext uri="{FF2B5EF4-FFF2-40B4-BE49-F238E27FC236}">
                <a16:creationId xmlns:a16="http://schemas.microsoft.com/office/drawing/2014/main" id="{B1E26415-7FA8-4824-A9B7-D345AAF48290}"/>
              </a:ext>
            </a:extLst>
          </p:cNvPr>
          <p:cNvSpPr>
            <a:spLocks noGrp="1"/>
          </p:cNvSpPr>
          <p:nvPr/>
        </p:nvSpPr>
        <p:spPr>
          <a:xfrm>
            <a:off x="400050" y="6019800"/>
            <a:ext cx="113919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320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233">
            <a:extLst>
              <a:ext uri="{FF2B5EF4-FFF2-40B4-BE49-F238E27FC236}">
                <a16:creationId xmlns:a16="http://schemas.microsoft.com/office/drawing/2014/main" id="{562ECDE3-FD4E-4102-990C-F0F8336A8CB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dirty="0" err="1">
                <a:solidFill>
                  <a:srgbClr val="1768C4"/>
                </a:solidFill>
                <a:latin typeface="Helvetica Neue"/>
                <a:ea typeface="Helvetica Neue"/>
                <a:cs typeface="Helvetica Neue"/>
              </a:rPr>
              <a:t>经验教训</a:t>
            </a:r>
            <a:endParaRPr sz="1125" b="1" dirty="0">
              <a:solidFill>
                <a:srgbClr val="1768C4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text-234">
            <a:extLst>
              <a:ext uri="{FF2B5EF4-FFF2-40B4-BE49-F238E27FC236}">
                <a16:creationId xmlns:a16="http://schemas.microsoft.com/office/drawing/2014/main" id="{D3E3AD4A-F151-499C-90F8-2303B758CF7C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lang="en-CN" sz="3600" b="1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经验教训</a:t>
            </a:r>
            <a:r>
              <a:rPr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变成四条清晰的团队规则</a:t>
            </a:r>
            <a:endParaRPr sz="3600" b="1" dirty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-235">
            <a:extLst>
              <a:ext uri="{FF2B5EF4-FFF2-40B4-BE49-F238E27FC236}">
                <a16:creationId xmlns:a16="http://schemas.microsoft.com/office/drawing/2014/main" id="{9225202A-9BF0-47AD-92B3-1D5145E9A2BC}"/>
              </a:ext>
            </a:extLst>
          </p:cNvPr>
          <p:cNvSpPr>
            <a:spLocks noGrp="1"/>
          </p:cNvSpPr>
          <p:nvPr/>
        </p:nvSpPr>
        <p:spPr>
          <a:xfrm>
            <a:off x="11106150" y="419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11 / 12</a:t>
            </a:r>
          </a:p>
        </p:txBody>
      </p:sp>
      <p:sp>
        <p:nvSpPr>
          <p:cNvPr id="4" name="text-236">
            <a:extLst>
              <a:ext uri="{FF2B5EF4-FFF2-40B4-BE49-F238E27FC236}">
                <a16:creationId xmlns:a16="http://schemas.microsoft.com/office/drawing/2014/main" id="{63E61899-068B-4D4B-AFF5-6F4F13EA5F3B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我们遇到的问题</a:t>
            </a:r>
          </a:p>
        </p:txBody>
      </p:sp>
      <p:sp>
        <p:nvSpPr>
          <p:cNvPr id="5" name="text-237">
            <a:extLst>
              <a:ext uri="{FF2B5EF4-FFF2-40B4-BE49-F238E27FC236}">
                <a16:creationId xmlns:a16="http://schemas.microsoft.com/office/drawing/2014/main" id="{B90B7115-1215-4B34-8EAD-FF792A42B939}"/>
              </a:ext>
            </a:extLst>
          </p:cNvPr>
          <p:cNvSpPr>
            <a:spLocks noGrp="1"/>
          </p:cNvSpPr>
          <p:nvPr/>
        </p:nvSpPr>
        <p:spPr>
          <a:xfrm>
            <a:off x="6743700" y="13525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以后怎么避免</a:t>
            </a:r>
          </a:p>
        </p:txBody>
      </p:sp>
      <p:sp>
        <p:nvSpPr>
          <p:cNvPr id="6" name="box-238">
            <a:extLst>
              <a:ext uri="{FF2B5EF4-FFF2-40B4-BE49-F238E27FC236}">
                <a16:creationId xmlns:a16="http://schemas.microsoft.com/office/drawing/2014/main" id="{D14F5D24-A2AE-4FD9-9A04-B6F0FC610759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4476750" cy="781050"/>
          </a:xfrm>
          <a:prstGeom prst="roundRect">
            <a:avLst>
              <a:gd name="adj" fmla="val 7317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假数据用太久，联调时问题集中暴露</a:t>
            </a:r>
          </a:p>
        </p:txBody>
      </p:sp>
      <p:sp>
        <p:nvSpPr>
          <p:cNvPr id="7" name="box-239">
            <a:extLst>
              <a:ext uri="{FF2B5EF4-FFF2-40B4-BE49-F238E27FC236}">
                <a16:creationId xmlns:a16="http://schemas.microsoft.com/office/drawing/2014/main" id="{98468F51-491D-477B-B3F8-BEEF2213E065}"/>
              </a:ext>
            </a:extLst>
          </p:cNvPr>
          <p:cNvSpPr>
            <a:spLocks noGrp="1"/>
          </p:cNvSpPr>
          <p:nvPr/>
        </p:nvSpPr>
        <p:spPr>
          <a:xfrm>
            <a:off x="6743700" y="1809750"/>
            <a:ext cx="5048250" cy="781050"/>
          </a:xfrm>
          <a:prstGeom prst="roundRect">
            <a:avLst>
              <a:gd name="adj" fmla="val 7317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接口先约定</a:t>
            </a:r>
          </a:p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字段、错误码和示例一起评审</a:t>
            </a:r>
          </a:p>
        </p:txBody>
      </p:sp>
      <p:cxnSp>
        <p:nvCxnSpPr>
          <p:cNvPr id="60" name="Straight Arrow Connector 25"/>
          <p:cNvCxnSpPr>
            <a:stCxn id="6" idx="3"/>
            <a:endCxn id="7" idx="1"/>
          </p:cNvCxnSpPr>
          <p:nvPr/>
        </p:nvCxnSpPr>
        <p:spPr>
          <a:xfrm>
            <a:off x="4876800" y="2200275"/>
            <a:ext cx="1866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9" name="box-240">
            <a:extLst>
              <a:ext uri="{FF2B5EF4-FFF2-40B4-BE49-F238E27FC236}">
                <a16:creationId xmlns:a16="http://schemas.microsoft.com/office/drawing/2014/main" id="{E25744E4-7D39-49FA-89C8-E9D11119915D}"/>
              </a:ext>
            </a:extLst>
          </p:cNvPr>
          <p:cNvSpPr>
            <a:spLocks noGrp="1"/>
          </p:cNvSpPr>
          <p:nvPr/>
        </p:nvSpPr>
        <p:spPr>
          <a:xfrm>
            <a:off x="400050" y="2867025"/>
            <a:ext cx="4476750" cy="781050"/>
          </a:xfrm>
          <a:prstGeom prst="roundRect">
            <a:avLst>
              <a:gd name="adj" fmla="val 7317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多人同时修改公共数据模型</a:t>
            </a:r>
          </a:p>
        </p:txBody>
      </p:sp>
      <p:sp>
        <p:nvSpPr>
          <p:cNvPr id="10" name="box-241">
            <a:extLst>
              <a:ext uri="{FF2B5EF4-FFF2-40B4-BE49-F238E27FC236}">
                <a16:creationId xmlns:a16="http://schemas.microsoft.com/office/drawing/2014/main" id="{60220DF1-0FAD-4270-98BD-AF503E52C32D}"/>
              </a:ext>
            </a:extLst>
          </p:cNvPr>
          <p:cNvSpPr>
            <a:spLocks noGrp="1"/>
          </p:cNvSpPr>
          <p:nvPr/>
        </p:nvSpPr>
        <p:spPr>
          <a:xfrm>
            <a:off x="6743700" y="2867025"/>
            <a:ext cx="5048250" cy="781050"/>
          </a:xfrm>
          <a:prstGeom prst="roundRect">
            <a:avLst>
              <a:gd name="adj" fmla="val 7317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公共表指定负责人</a:t>
            </a:r>
          </a:p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数据库修改必须先评审</a:t>
            </a:r>
          </a:p>
        </p:txBody>
      </p:sp>
      <p:cxnSp>
        <p:nvCxnSpPr>
          <p:cNvPr id="63" name="Straight Arrow Connector 28"/>
          <p:cNvCxnSpPr>
            <a:stCxn id="9" idx="3"/>
            <a:endCxn id="10" idx="1"/>
          </p:cNvCxnSpPr>
          <p:nvPr/>
        </p:nvCxnSpPr>
        <p:spPr>
          <a:xfrm>
            <a:off x="4876800" y="3257550"/>
            <a:ext cx="1866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2" name="box-242">
            <a:extLst>
              <a:ext uri="{FF2B5EF4-FFF2-40B4-BE49-F238E27FC236}">
                <a16:creationId xmlns:a16="http://schemas.microsoft.com/office/drawing/2014/main" id="{6F59753C-F392-4BF4-94C9-388AA6E4CC06}"/>
              </a:ext>
            </a:extLst>
          </p:cNvPr>
          <p:cNvSpPr>
            <a:spLocks noGrp="1"/>
          </p:cNvSpPr>
          <p:nvPr/>
        </p:nvSpPr>
        <p:spPr>
          <a:xfrm>
            <a:off x="400050" y="3924300"/>
            <a:ext cx="4476750" cy="781050"/>
          </a:xfrm>
          <a:prstGeom prst="roundRect">
            <a:avLst>
              <a:gd name="adj" fmla="val 7317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名称、来源和时间格式不统一</a:t>
            </a:r>
          </a:p>
        </p:txBody>
      </p:sp>
      <p:sp>
        <p:nvSpPr>
          <p:cNvPr id="13" name="box-243">
            <a:extLst>
              <a:ext uri="{FF2B5EF4-FFF2-40B4-BE49-F238E27FC236}">
                <a16:creationId xmlns:a16="http://schemas.microsoft.com/office/drawing/2014/main" id="{4891DF83-F35B-4CA1-BE6F-752509C1B9B1}"/>
              </a:ext>
            </a:extLst>
          </p:cNvPr>
          <p:cNvSpPr>
            <a:spLocks noGrp="1"/>
          </p:cNvSpPr>
          <p:nvPr/>
        </p:nvSpPr>
        <p:spPr>
          <a:xfrm>
            <a:off x="6743700" y="3924300"/>
            <a:ext cx="5048250" cy="781050"/>
          </a:xfrm>
          <a:prstGeom prst="roundRect">
            <a:avLst>
              <a:gd name="adj" fmla="val 7317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统一名称和来源记录</a:t>
            </a:r>
          </a:p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时间全部按统一标准保存</a:t>
            </a:r>
          </a:p>
        </p:txBody>
      </p:sp>
      <p:cxnSp>
        <p:nvCxnSpPr>
          <p:cNvPr id="66" name="Straight Arrow Connector 31"/>
          <p:cNvCxnSpPr>
            <a:stCxn id="12" idx="3"/>
            <a:endCxn id="13" idx="1"/>
          </p:cNvCxnSpPr>
          <p:nvPr/>
        </p:nvCxnSpPr>
        <p:spPr>
          <a:xfrm>
            <a:off x="4876800" y="4314825"/>
            <a:ext cx="1866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5" name="box-244">
            <a:extLst>
              <a:ext uri="{FF2B5EF4-FFF2-40B4-BE49-F238E27FC236}">
                <a16:creationId xmlns:a16="http://schemas.microsoft.com/office/drawing/2014/main" id="{592E9A32-0523-4190-AF6E-8112A73C9A3D}"/>
              </a:ext>
            </a:extLst>
          </p:cNvPr>
          <p:cNvSpPr>
            <a:spLocks noGrp="1"/>
          </p:cNvSpPr>
          <p:nvPr/>
        </p:nvSpPr>
        <p:spPr>
          <a:xfrm>
            <a:off x="400050" y="4981575"/>
            <a:ext cx="4476750" cy="781050"/>
          </a:xfrm>
          <a:prstGeom prst="roundRect">
            <a:avLst>
              <a:gd name="adj" fmla="val 7317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页面能打开，就误以为功能完成</a:t>
            </a:r>
          </a:p>
        </p:txBody>
      </p:sp>
      <p:sp>
        <p:nvSpPr>
          <p:cNvPr id="16" name="box-245">
            <a:extLst>
              <a:ext uri="{FF2B5EF4-FFF2-40B4-BE49-F238E27FC236}">
                <a16:creationId xmlns:a16="http://schemas.microsoft.com/office/drawing/2014/main" id="{E5ACD3B2-C0D8-47A1-8B11-B3A5A461886C}"/>
              </a:ext>
            </a:extLst>
          </p:cNvPr>
          <p:cNvSpPr>
            <a:spLocks noGrp="1"/>
          </p:cNvSpPr>
          <p:nvPr/>
        </p:nvSpPr>
        <p:spPr>
          <a:xfrm>
            <a:off x="6743700" y="4981575"/>
            <a:ext cx="5048250" cy="781050"/>
          </a:xfrm>
          <a:prstGeom prst="roundRect">
            <a:avLst>
              <a:gd name="adj" fmla="val 7317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完成标准</a:t>
            </a:r>
          </a:p>
          <a:p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页面、接口、数据、异常、测试、文档都到位</a:t>
            </a:r>
          </a:p>
        </p:txBody>
      </p:sp>
      <p:cxnSp>
        <p:nvCxnSpPr>
          <p:cNvPr id="69" name="Straight Arrow Connector 34"/>
          <p:cNvCxnSpPr>
            <a:stCxn id="15" idx="3"/>
            <a:endCxn id="16" idx="1"/>
          </p:cNvCxnSpPr>
          <p:nvPr/>
        </p:nvCxnSpPr>
        <p:spPr>
          <a:xfrm>
            <a:off x="4876800" y="5372100"/>
            <a:ext cx="1866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none" w="med" len="me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7156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247">
            <a:extLst>
              <a:ext uri="{FF2B5EF4-FFF2-40B4-BE49-F238E27FC236}">
                <a16:creationId xmlns:a16="http://schemas.microsoft.com/office/drawing/2014/main" id="{D525F098-B843-42D9-8462-03FF663261D7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68C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8C4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" name="text-248">
            <a:extLst>
              <a:ext uri="{FF2B5EF4-FFF2-40B4-BE49-F238E27FC236}">
                <a16:creationId xmlns:a16="http://schemas.microsoft.com/office/drawing/2014/main" id="{0C5F4FD9-8333-4B83-9BDF-38AF38798F87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99060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PaperMate 的核心成果，</a:t>
            </a:r>
          </a:p>
          <a:p>
            <a:pPr algn="l">
              <a:buNone/>
              <a:defRPr sz="4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是一条可演进的科研知识链</a:t>
            </a:r>
          </a:p>
        </p:txBody>
      </p:sp>
      <p:sp>
        <p:nvSpPr>
          <p:cNvPr id="3" name="rule-249">
            <a:extLst>
              <a:ext uri="{FF2B5EF4-FFF2-40B4-BE49-F238E27FC236}">
                <a16:creationId xmlns:a16="http://schemas.microsoft.com/office/drawing/2014/main" id="{661FA330-3237-4A29-80F2-33409885B6D8}"/>
              </a:ext>
            </a:extLst>
          </p:cNvPr>
          <p:cNvSpPr>
            <a:spLocks noGrp="1"/>
          </p:cNvSpPr>
          <p:nvPr/>
        </p:nvSpPr>
        <p:spPr>
          <a:xfrm>
            <a:off x="400050" y="3371850"/>
            <a:ext cx="11391900" cy="0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</p:sp>
      <p:sp>
        <p:nvSpPr>
          <p:cNvPr id="4" name="text-250">
            <a:extLst>
              <a:ext uri="{FF2B5EF4-FFF2-40B4-BE49-F238E27FC236}">
                <a16:creationId xmlns:a16="http://schemas.microsoft.com/office/drawing/2014/main" id="{4EEAE42D-323B-45B0-86E3-46574FF0F9F7}"/>
              </a:ext>
            </a:extLst>
          </p:cNvPr>
          <p:cNvSpPr>
            <a:spLocks noGrp="1"/>
          </p:cNvSpPr>
          <p:nvPr/>
        </p:nvSpPr>
        <p:spPr>
          <a:xfrm>
            <a:off x="400050" y="38671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-251">
            <a:extLst>
              <a:ext uri="{FF2B5EF4-FFF2-40B4-BE49-F238E27FC236}">
                <a16:creationId xmlns:a16="http://schemas.microsoft.com/office/drawing/2014/main" id="{130C2444-28BB-4B74-A18F-11E642F1C5F4}"/>
              </a:ext>
            </a:extLst>
          </p:cNvPr>
          <p:cNvSpPr>
            <a:spLocks noGrp="1"/>
          </p:cNvSpPr>
          <p:nvPr/>
        </p:nvSpPr>
        <p:spPr>
          <a:xfrm>
            <a:off x="400050" y="44196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可替换</a:t>
            </a:r>
          </a:p>
        </p:txBody>
      </p:sp>
      <p:sp>
        <p:nvSpPr>
          <p:cNvPr id="6" name="text-252">
            <a:extLst>
              <a:ext uri="{FF2B5EF4-FFF2-40B4-BE49-F238E27FC236}">
                <a16:creationId xmlns:a16="http://schemas.microsoft.com/office/drawing/2014/main" id="{C6560BAB-869B-4C28-8AAA-CE3F233F15D5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接口隔离模型、检索与传输变化</a:t>
            </a:r>
          </a:p>
        </p:txBody>
      </p:sp>
      <p:sp>
        <p:nvSpPr>
          <p:cNvPr id="7" name="text-253">
            <a:extLst>
              <a:ext uri="{FF2B5EF4-FFF2-40B4-BE49-F238E27FC236}">
                <a16:creationId xmlns:a16="http://schemas.microsoft.com/office/drawing/2014/main" id="{C582E375-6A5F-4182-99AE-7B4CE4B3DA32}"/>
              </a:ext>
            </a:extLst>
          </p:cNvPr>
          <p:cNvSpPr>
            <a:spLocks noGrp="1"/>
          </p:cNvSpPr>
          <p:nvPr/>
        </p:nvSpPr>
        <p:spPr>
          <a:xfrm>
            <a:off x="4210050" y="38671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text-254">
            <a:extLst>
              <a:ext uri="{FF2B5EF4-FFF2-40B4-BE49-F238E27FC236}">
                <a16:creationId xmlns:a16="http://schemas.microsoft.com/office/drawing/2014/main" id="{B640D104-A859-4719-BD69-5C952EEE8BFE}"/>
              </a:ext>
            </a:extLst>
          </p:cNvPr>
          <p:cNvSpPr>
            <a:spLocks noGrp="1"/>
          </p:cNvSpPr>
          <p:nvPr/>
        </p:nvSpPr>
        <p:spPr>
          <a:xfrm>
            <a:off x="4210050" y="44196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可信</a:t>
            </a:r>
          </a:p>
        </p:txBody>
      </p:sp>
      <p:sp>
        <p:nvSpPr>
          <p:cNvPr id="9" name="text-255">
            <a:extLst>
              <a:ext uri="{FF2B5EF4-FFF2-40B4-BE49-F238E27FC236}">
                <a16:creationId xmlns:a16="http://schemas.microsoft.com/office/drawing/2014/main" id="{522E5005-05E1-4E10-A453-C9D31BF01CEC}"/>
              </a:ext>
            </a:extLst>
          </p:cNvPr>
          <p:cNvSpPr>
            <a:spLocks noGrp="1"/>
          </p:cNvSpPr>
          <p:nvPr/>
        </p:nvSpPr>
        <p:spPr>
          <a:xfrm>
            <a:off x="4210050" y="50101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回答绑定论文与原文片段</a:t>
            </a:r>
          </a:p>
        </p:txBody>
      </p:sp>
      <p:sp>
        <p:nvSpPr>
          <p:cNvPr id="10" name="text-256">
            <a:extLst>
              <a:ext uri="{FF2B5EF4-FFF2-40B4-BE49-F238E27FC236}">
                <a16:creationId xmlns:a16="http://schemas.microsoft.com/office/drawing/2014/main" id="{ACF36436-084F-44F0-9B75-8337E2B9F661}"/>
              </a:ext>
            </a:extLst>
          </p:cNvPr>
          <p:cNvSpPr>
            <a:spLocks noGrp="1"/>
          </p:cNvSpPr>
          <p:nvPr/>
        </p:nvSpPr>
        <p:spPr>
          <a:xfrm>
            <a:off x="8020050" y="38671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text-257">
            <a:extLst>
              <a:ext uri="{FF2B5EF4-FFF2-40B4-BE49-F238E27FC236}">
                <a16:creationId xmlns:a16="http://schemas.microsoft.com/office/drawing/2014/main" id="{084D0C09-1441-4A27-84A7-821D90F5B4DB}"/>
              </a:ext>
            </a:extLst>
          </p:cNvPr>
          <p:cNvSpPr>
            <a:spLocks noGrp="1"/>
          </p:cNvSpPr>
          <p:nvPr/>
        </p:nvSpPr>
        <p:spPr>
          <a:xfrm>
            <a:off x="8020050" y="44196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可恢复</a:t>
            </a:r>
          </a:p>
        </p:txBody>
      </p:sp>
      <p:sp>
        <p:nvSpPr>
          <p:cNvPr id="12" name="text-258">
            <a:extLst>
              <a:ext uri="{FF2B5EF4-FFF2-40B4-BE49-F238E27FC236}">
                <a16:creationId xmlns:a16="http://schemas.microsoft.com/office/drawing/2014/main" id="{6F980D5B-DB84-4C27-BD94-B583AA1850B4}"/>
              </a:ext>
            </a:extLst>
          </p:cNvPr>
          <p:cNvSpPr>
            <a:spLocks noGrp="1"/>
          </p:cNvSpPr>
          <p:nvPr/>
        </p:nvSpPr>
        <p:spPr>
          <a:xfrm>
            <a:off x="8020050" y="50101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异步状态机承接外部不确定性</a:t>
            </a:r>
          </a:p>
        </p:txBody>
      </p:sp>
      <p:sp>
        <p:nvSpPr>
          <p:cNvPr id="14" name="text-260">
            <a:extLst>
              <a:ext uri="{FF2B5EF4-FFF2-40B4-BE49-F238E27FC236}">
                <a16:creationId xmlns:a16="http://schemas.microsoft.com/office/drawing/2014/main" id="{A21474CA-7A3C-43EB-BF89-4D1AF9504194}"/>
              </a:ext>
            </a:extLst>
          </p:cNvPr>
          <p:cNvSpPr>
            <a:spLocks noGrp="1"/>
          </p:cNvSpPr>
          <p:nvPr/>
        </p:nvSpPr>
        <p:spPr>
          <a:xfrm>
            <a:off x="10287000" y="5905500"/>
            <a:ext cx="1504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45702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1509</Words>
  <Application>Microsoft Macintosh PowerPoint</Application>
  <DocSecurity>0</DocSecurity>
  <PresentationFormat>Widescreen</PresentationFormat>
  <Paragraphs>329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PingFang SC</vt:lpstr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Xilang Chen</cp:lastModifiedBy>
  <cp:revision>8</cp:revision>
  <dcterms:created xsi:type="dcterms:W3CDTF">2026-07-30T07:15:43Z</dcterms:created>
  <dcterms:modified xsi:type="dcterms:W3CDTF">2026-07-31T01:24:06Z</dcterms:modified>
</cp:coreProperties>
</file>